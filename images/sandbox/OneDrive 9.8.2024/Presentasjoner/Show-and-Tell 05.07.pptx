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Bold" charset="0"/>
      <p:regular r:id="rId17"/>
      <p:bold r:id="rId18"/>
    </p:embeddedFont>
    <p:embeddedFont>
      <p:font typeface="Montserrat Classic" panose="020B0604020202020204" charset="0"/>
      <p:regular r:id="rId19"/>
    </p:embeddedFont>
    <p:embeddedFont>
      <p:font typeface="Oswald Bold" panose="020B060402020202020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ødremoen, Emma" userId="51198e46-6071-489a-ac0b-5a841f4a51b6" providerId="ADAL" clId="{C7D4111E-F634-4C38-B7F2-185B4662065C}"/>
    <pc:docChg chg="custSel modSld">
      <pc:chgData name="Brødremoen, Emma" userId="51198e46-6071-489a-ac0b-5a841f4a51b6" providerId="ADAL" clId="{C7D4111E-F634-4C38-B7F2-185B4662065C}" dt="2024-07-02T14:06:57.714" v="607" actId="15"/>
      <pc:docMkLst>
        <pc:docMk/>
      </pc:docMkLst>
      <pc:sldChg chg="modSp mod">
        <pc:chgData name="Brødremoen, Emma" userId="51198e46-6071-489a-ac0b-5a841f4a51b6" providerId="ADAL" clId="{C7D4111E-F634-4C38-B7F2-185B4662065C}" dt="2024-07-02T13:14:35.114" v="121" actId="20577"/>
        <pc:sldMkLst>
          <pc:docMk/>
          <pc:sldMk cId="0" sldId="257"/>
        </pc:sldMkLst>
        <pc:spChg chg="mod">
          <ac:chgData name="Brødremoen, Emma" userId="51198e46-6071-489a-ac0b-5a841f4a51b6" providerId="ADAL" clId="{C7D4111E-F634-4C38-B7F2-185B4662065C}" dt="2024-07-02T13:14:13.042" v="39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3:14:17.901" v="5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3:14:23.518" v="73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3:13:59.682" v="13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3:14:29.161" v="96" actId="20577"/>
          <ac:spMkLst>
            <pc:docMk/>
            <pc:sldMk cId="0" sldId="257"/>
            <ac:spMk id="17" creationId="{476F31E7-54B1-2AD9-2618-9CA0C62BA371}"/>
          </ac:spMkLst>
        </pc:spChg>
        <pc:spChg chg="mod">
          <ac:chgData name="Brødremoen, Emma" userId="51198e46-6071-489a-ac0b-5a841f4a51b6" providerId="ADAL" clId="{C7D4111E-F634-4C38-B7F2-185B4662065C}" dt="2024-07-02T13:14:35.114" v="121" actId="20577"/>
          <ac:spMkLst>
            <pc:docMk/>
            <pc:sldMk cId="0" sldId="257"/>
            <ac:spMk id="19" creationId="{FF05723B-9C18-246E-083C-0E874DBF5885}"/>
          </ac:spMkLst>
        </pc:spChg>
      </pc:sldChg>
      <pc:sldChg chg="modSp mod">
        <pc:chgData name="Brødremoen, Emma" userId="51198e46-6071-489a-ac0b-5a841f4a51b6" providerId="ADAL" clId="{C7D4111E-F634-4C38-B7F2-185B4662065C}" dt="2024-07-02T14:06:57.714" v="607" actId="15"/>
        <pc:sldMkLst>
          <pc:docMk/>
          <pc:sldMk cId="0" sldId="261"/>
        </pc:sldMkLst>
        <pc:spChg chg="mod">
          <ac:chgData name="Brødremoen, Emma" userId="51198e46-6071-489a-ac0b-5a841f4a51b6" providerId="ADAL" clId="{C7D4111E-F634-4C38-B7F2-185B4662065C}" dt="2024-07-02T13:52:00.499" v="196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4:06:08.902" v="570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3:52:27.011" v="246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4:06:57.714" v="607" actId="1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Brødremoen, Emma" userId="51198e46-6071-489a-ac0b-5a841f4a51b6" providerId="ADAL" clId="{C7D4111E-F634-4C38-B7F2-185B4662065C}" dt="2024-07-02T13:52:17.268" v="225" actId="20577"/>
          <ac:spMkLst>
            <pc:docMk/>
            <pc:sldMk cId="0" sldId="261"/>
            <ac:spMk id="26" creationId="{728B1220-851F-6214-39FA-0E0F005FABFF}"/>
          </ac:spMkLst>
        </pc:spChg>
      </pc:sldChg>
      <pc:sldChg chg="modSp mod">
        <pc:chgData name="Brødremoen, Emma" userId="51198e46-6071-489a-ac0b-5a841f4a51b6" providerId="ADAL" clId="{C7D4111E-F634-4C38-B7F2-185B4662065C}" dt="2024-07-02T13:50:59.730" v="169" actId="20577"/>
        <pc:sldMkLst>
          <pc:docMk/>
          <pc:sldMk cId="0" sldId="262"/>
        </pc:sldMkLst>
        <pc:spChg chg="mod">
          <ac:chgData name="Brødremoen, Emma" userId="51198e46-6071-489a-ac0b-5a841f4a51b6" providerId="ADAL" clId="{C7D4111E-F634-4C38-B7F2-185B4662065C}" dt="2024-07-02T13:50:59.730" v="169" actId="20577"/>
          <ac:spMkLst>
            <pc:docMk/>
            <pc:sldMk cId="0" sldId="262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svg"/><Relationship Id="rId7" Type="http://schemas.openxmlformats.org/officeDocument/2006/relationships/image" Target="../media/image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6.png"/><Relationship Id="rId7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.svg"/><Relationship Id="rId4" Type="http://schemas.openxmlformats.org/officeDocument/2006/relationships/image" Target="../media/image17.sv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236347" y="3202251"/>
            <a:ext cx="9815307" cy="4208864"/>
            <a:chOff x="0" y="0"/>
            <a:chExt cx="18954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5495" cy="812800"/>
            </a:xfrm>
            <a:custGeom>
              <a:avLst/>
              <a:gdLst/>
              <a:ahLst/>
              <a:cxnLst/>
              <a:rect l="l" t="t" r="r" b="b"/>
              <a:pathLst>
                <a:path w="1895495" h="812800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B4000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36347" y="4937804"/>
            <a:ext cx="9815307" cy="135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8000" spc="784" dirty="0">
                <a:solidFill>
                  <a:srgbClr val="B40004"/>
                </a:solidFill>
                <a:latin typeface="Oswald Bold"/>
              </a:rPr>
              <a:t>BEDRIFTSMARKED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36347" y="3884252"/>
            <a:ext cx="9815307" cy="118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sz="7063" spc="692">
                <a:solidFill>
                  <a:srgbClr val="B40004"/>
                </a:solidFill>
                <a:latin typeface="Oswald Bold"/>
              </a:rPr>
              <a:t>TEAM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9596" y="7782631"/>
            <a:ext cx="12848809" cy="44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sz="2653" spc="140">
                <a:solidFill>
                  <a:srgbClr val="B40004"/>
                </a:solidFill>
                <a:latin typeface="Montserrat Classic"/>
              </a:rPr>
              <a:t>ARON, DIDRIK, EMMA, MARIANN, SIMEN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-4012602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857093" y="3528388"/>
            <a:ext cx="1400485" cy="5245790"/>
            <a:chOff x="0" y="0"/>
            <a:chExt cx="368852" cy="9763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8852" cy="976360"/>
            </a:xfrm>
            <a:custGeom>
              <a:avLst/>
              <a:gdLst/>
              <a:ahLst/>
              <a:cxnLst/>
              <a:rect l="l" t="t" r="r" b="b"/>
              <a:pathLst>
                <a:path w="368852" h="976360">
                  <a:moveTo>
                    <a:pt x="0" y="0"/>
                  </a:moveTo>
                  <a:lnTo>
                    <a:pt x="368852" y="0"/>
                  </a:lnTo>
                  <a:lnTo>
                    <a:pt x="368852" y="976360"/>
                  </a:lnTo>
                  <a:lnTo>
                    <a:pt x="0" y="976360"/>
                  </a:lnTo>
                  <a:close/>
                </a:path>
              </a:pathLst>
            </a:custGeom>
            <a:solidFill>
              <a:srgbClr val="B4000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68852" cy="995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31353" y="1485900"/>
            <a:ext cx="7416941" cy="168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spc="978">
                <a:solidFill>
                  <a:srgbClr val="B40004"/>
                </a:solidFill>
                <a:latin typeface="Oswald Bold"/>
              </a:rPr>
              <a:t>INNHOLD</a:t>
            </a:r>
          </a:p>
        </p:txBody>
      </p:sp>
      <p:sp>
        <p:nvSpPr>
          <p:cNvPr id="7" name="Freeform 7"/>
          <p:cNvSpPr/>
          <p:nvPr/>
        </p:nvSpPr>
        <p:spPr>
          <a:xfrm rot="2638849">
            <a:off x="10690724" y="903579"/>
            <a:ext cx="10749463" cy="2687366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3" y="0"/>
                </a:lnTo>
                <a:lnTo>
                  <a:pt x="10749463" y="2687366"/>
                </a:lnTo>
                <a:lnTo>
                  <a:pt x="0" y="2687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88727" y="3815781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FFFAEB"/>
                </a:solidFill>
                <a:latin typeface="Oswald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8727" y="4612901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FFFAEB"/>
                </a:solidFill>
                <a:latin typeface="Oswald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88727" y="5494058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FFFAEB"/>
                </a:solidFill>
                <a:latin typeface="Oswald Bold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88727" y="6291177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dirty="0">
                <a:solidFill>
                  <a:srgbClr val="FFFAEB"/>
                </a:solidFill>
                <a:latin typeface="Oswald Bold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71665" y="4678133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 dirty="0">
                <a:solidFill>
                  <a:srgbClr val="B40004"/>
                </a:solidFill>
                <a:latin typeface="DM Sans"/>
              </a:rPr>
              <a:t>FORRIGE UKE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71665" y="5517271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 dirty="0">
                <a:solidFill>
                  <a:srgbClr val="B40004"/>
                </a:solidFill>
                <a:latin typeface="DM Sans"/>
              </a:rPr>
              <a:t>….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1665" y="6356409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B40004"/>
                </a:solidFill>
                <a:latin typeface="DM Sans"/>
              </a:rPr>
              <a:t>….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71665" y="3881013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 dirty="0">
                <a:solidFill>
                  <a:srgbClr val="B40004"/>
                </a:solidFill>
                <a:latin typeface="DM Sans"/>
              </a:rPr>
              <a:t>….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99A639DA-FC7C-4E86-3850-9B5EB9F51F3F}"/>
              </a:ext>
            </a:extLst>
          </p:cNvPr>
          <p:cNvSpPr txBox="1"/>
          <p:nvPr/>
        </p:nvSpPr>
        <p:spPr>
          <a:xfrm>
            <a:off x="5088727" y="7088296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dirty="0">
                <a:solidFill>
                  <a:srgbClr val="FFFAEB"/>
                </a:solidFill>
                <a:latin typeface="Oswald Bold"/>
              </a:rPr>
              <a:t>05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476F31E7-54B1-2AD9-2618-9CA0C62BA371}"/>
              </a:ext>
            </a:extLst>
          </p:cNvPr>
          <p:cNvSpPr txBox="1"/>
          <p:nvPr/>
        </p:nvSpPr>
        <p:spPr>
          <a:xfrm>
            <a:off x="6571665" y="7139067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B40004"/>
                </a:solidFill>
                <a:latin typeface="DM Sans"/>
              </a:rPr>
              <a:t>….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43DB2C23-B927-646C-594F-1FEE167FAC8C}"/>
              </a:ext>
            </a:extLst>
          </p:cNvPr>
          <p:cNvSpPr txBox="1"/>
          <p:nvPr/>
        </p:nvSpPr>
        <p:spPr>
          <a:xfrm>
            <a:off x="5088727" y="7850846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 dirty="0">
                <a:solidFill>
                  <a:srgbClr val="FFFAEB"/>
                </a:solidFill>
                <a:latin typeface="Oswald Bold"/>
              </a:rPr>
              <a:t>06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FF05723B-9C18-246E-083C-0E874DBF5885}"/>
              </a:ext>
            </a:extLst>
          </p:cNvPr>
          <p:cNvSpPr txBox="1"/>
          <p:nvPr/>
        </p:nvSpPr>
        <p:spPr>
          <a:xfrm>
            <a:off x="6585952" y="7906842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spc="247" dirty="0">
                <a:solidFill>
                  <a:srgbClr val="B40004"/>
                </a:solidFill>
                <a:latin typeface="DM Sans"/>
              </a:rPr>
              <a:t>…..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00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69367" y="-10264537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184321" y="3030981"/>
            <a:ext cx="13450384" cy="1702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8"/>
              </a:lnSpc>
            </a:pPr>
            <a:r>
              <a:rPr lang="en-US" sz="10107" spc="990">
                <a:solidFill>
                  <a:srgbClr val="FFFAEB"/>
                </a:solidFill>
                <a:latin typeface="Oswald Bold"/>
              </a:rPr>
              <a:t> PROBLEMSTILLING</a:t>
            </a:r>
          </a:p>
        </p:txBody>
      </p:sp>
      <p:sp>
        <p:nvSpPr>
          <p:cNvPr id="4" name="Freeform 4"/>
          <p:cNvSpPr/>
          <p:nvPr/>
        </p:nvSpPr>
        <p:spPr>
          <a:xfrm>
            <a:off x="13447294" y="-3843198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720102" y="4905847"/>
            <a:ext cx="10951206" cy="301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898" spc="284">
                <a:solidFill>
                  <a:srgbClr val="FFFAEB"/>
                </a:solidFill>
                <a:latin typeface="DM Sans"/>
              </a:rPr>
              <a:t>Storebrand forventer økning i SMB-markedet, de ønsker effektiv håndtering av denne veksten uten økt ressursbruk. </a:t>
            </a:r>
          </a:p>
          <a:p>
            <a:pPr algn="l">
              <a:lnSpc>
                <a:spcPts val="3999"/>
              </a:lnSpc>
            </a:pPr>
            <a:endParaRPr lang="en-US" sz="2898" spc="284">
              <a:solidFill>
                <a:srgbClr val="FFFAEB"/>
              </a:solidFill>
              <a:latin typeface="DM Sans"/>
            </a:endParaRPr>
          </a:p>
          <a:p>
            <a:pPr algn="l">
              <a:lnSpc>
                <a:spcPts val="3999"/>
              </a:lnSpc>
            </a:pPr>
            <a:r>
              <a:rPr lang="en-US" sz="2898" spc="284">
                <a:solidFill>
                  <a:srgbClr val="FFFAEB"/>
                </a:solidFill>
                <a:latin typeface="DM Sans"/>
              </a:rPr>
              <a:t>Målet er mer selvbetjenting, som medfører lettjent inntekt for Storebrand.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42191" y="4828880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9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474235" y="3673321"/>
            <a:ext cx="1156649" cy="1173721"/>
          </a:xfrm>
          <a:custGeom>
            <a:avLst/>
            <a:gdLst/>
            <a:ahLst/>
            <a:cxnLst/>
            <a:rect l="l" t="t" r="r" b="b"/>
            <a:pathLst>
              <a:path w="1156649" h="1173721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371799" y="6162574"/>
            <a:ext cx="1159455" cy="1178744"/>
          </a:xfrm>
          <a:custGeom>
            <a:avLst/>
            <a:gdLst/>
            <a:ahLst/>
            <a:cxnLst/>
            <a:rect l="l" t="t" r="r" b="b"/>
            <a:pathLst>
              <a:path w="1159455" h="1178744">
                <a:moveTo>
                  <a:pt x="0" y="0"/>
                </a:moveTo>
                <a:lnTo>
                  <a:pt x="1159455" y="0"/>
                </a:lnTo>
                <a:lnTo>
                  <a:pt x="1159455" y="1178744"/>
                </a:lnTo>
                <a:lnTo>
                  <a:pt x="0" y="1178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779578" y="734131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814438" y="0"/>
            <a:ext cx="11467161" cy="6425318"/>
          </a:xfrm>
          <a:custGeom>
            <a:avLst/>
            <a:gdLst/>
            <a:ahLst/>
            <a:cxnLst/>
            <a:rect l="l" t="t" r="r" b="b"/>
            <a:pathLst>
              <a:path w="11467161" h="6425318">
                <a:moveTo>
                  <a:pt x="0" y="0"/>
                </a:moveTo>
                <a:lnTo>
                  <a:pt x="11467161" y="0"/>
                </a:lnTo>
                <a:lnTo>
                  <a:pt x="11467161" y="6425319"/>
                </a:lnTo>
                <a:lnTo>
                  <a:pt x="0" y="64253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3578183"/>
            <a:ext cx="8712352" cy="6689010"/>
          </a:xfrm>
          <a:custGeom>
            <a:avLst/>
            <a:gdLst/>
            <a:ahLst/>
            <a:cxnLst/>
            <a:rect l="l" t="t" r="r" b="b"/>
            <a:pathLst>
              <a:path w="8712352" h="6689010">
                <a:moveTo>
                  <a:pt x="0" y="0"/>
                </a:moveTo>
                <a:lnTo>
                  <a:pt x="8712352" y="0"/>
                </a:lnTo>
                <a:lnTo>
                  <a:pt x="8712352" y="6689010"/>
                </a:lnTo>
                <a:lnTo>
                  <a:pt x="0" y="6689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25232" y="693254"/>
            <a:ext cx="6811302" cy="135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8000" spc="784" dirty="0">
                <a:solidFill>
                  <a:srgbClr val="B40004"/>
                </a:solidFill>
                <a:latin typeface="Oswald Bold"/>
              </a:rPr>
              <a:t>OVERORDNET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8952" y="6474766"/>
            <a:ext cx="6756046" cy="37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200" spc="216" dirty="0" err="1">
                <a:solidFill>
                  <a:srgbClr val="B40004"/>
                </a:solidFill>
                <a:latin typeface="DM Sans Bold"/>
              </a:rPr>
              <a:t>Bedriftsportalen</a:t>
            </a:r>
            <a:r>
              <a:rPr lang="en-US" sz="2200" spc="216" dirty="0">
                <a:solidFill>
                  <a:srgbClr val="B40004"/>
                </a:solidFill>
                <a:latin typeface="DM Sans Bold"/>
              </a:rPr>
              <a:t> er </a:t>
            </a:r>
            <a:r>
              <a:rPr lang="en-US" sz="2200" spc="216" dirty="0" err="1">
                <a:solidFill>
                  <a:srgbClr val="B40004"/>
                </a:solidFill>
                <a:latin typeface="DM Sans Bold"/>
              </a:rPr>
              <a:t>en</a:t>
            </a:r>
            <a:r>
              <a:rPr lang="en-US" sz="2200" spc="216" dirty="0">
                <a:solidFill>
                  <a:srgbClr val="B40004"/>
                </a:solidFill>
                <a:latin typeface="DM Sans Bold"/>
              </a:rPr>
              <a:t> forvaltningsportal</a:t>
            </a:r>
            <a:endParaRPr lang="en-US" sz="2210" spc="216" dirty="0">
              <a:solidFill>
                <a:srgbClr val="B40004"/>
              </a:solidFill>
              <a:latin typeface="DM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792" y="3222642"/>
            <a:ext cx="7132181" cy="37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50"/>
              </a:lnSpc>
              <a:spcBef>
                <a:spcPct val="0"/>
              </a:spcBef>
            </a:pPr>
            <a:r>
              <a:rPr lang="en-US" sz="2200" spc="216" dirty="0" err="1">
                <a:solidFill>
                  <a:srgbClr val="B40004"/>
                </a:solidFill>
                <a:latin typeface="DM Sans Bold"/>
              </a:rPr>
              <a:t>Bedriftsveilederen</a:t>
            </a:r>
            <a:r>
              <a:rPr lang="en-US" sz="2200" spc="216" dirty="0">
                <a:solidFill>
                  <a:srgbClr val="B40004"/>
                </a:solidFill>
                <a:latin typeface="DM Sans Bold"/>
              </a:rPr>
              <a:t> er et </a:t>
            </a:r>
            <a:r>
              <a:rPr lang="en-US" sz="2200" spc="216" dirty="0" err="1">
                <a:solidFill>
                  <a:srgbClr val="B40004"/>
                </a:solidFill>
                <a:latin typeface="DM Sans Bold"/>
              </a:rPr>
              <a:t>salgsverktøy</a:t>
            </a:r>
            <a:endParaRPr lang="en-US" sz="2200" spc="216" dirty="0">
              <a:solidFill>
                <a:srgbClr val="B40004"/>
              </a:solidFill>
              <a:latin typeface="DM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01715" y="7557928"/>
            <a:ext cx="8401231" cy="1707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7769" lvl="1" indent="-213884" algn="l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Kundene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blir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forivrret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av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hvilken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løsning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som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brukes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til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hva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  <a:p>
            <a:pPr marL="427769" lvl="1" indent="-213884" algn="l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Tjenestene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snakker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lite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sammen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  <a:p>
            <a:pPr marL="427769" lvl="1" indent="-213884" algn="l">
              <a:lnSpc>
                <a:spcPts val="2734"/>
              </a:lnSpc>
              <a:buFont typeface="Arial"/>
              <a:buChar char="•"/>
            </a:pPr>
            <a:r>
              <a:rPr lang="en-US" sz="1981" spc="194" dirty="0">
                <a:solidFill>
                  <a:srgbClr val="B40004"/>
                </a:solidFill>
                <a:latin typeface="DM Sans"/>
              </a:rPr>
              <a:t>Det er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uavklart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mellom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utviklerne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hvilken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plattform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som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har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ansvar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for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hvilken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funksjonalitet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28700" y="1803286"/>
            <a:ext cx="3533046" cy="864710"/>
            <a:chOff x="0" y="-30199"/>
            <a:chExt cx="930514" cy="2277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30514" cy="170593"/>
            </a:xfrm>
            <a:custGeom>
              <a:avLst/>
              <a:gdLst/>
              <a:ahLst/>
              <a:cxnLst/>
              <a:rect l="l" t="t" r="r" b="b"/>
              <a:pathLst>
                <a:path w="930514" h="170593">
                  <a:moveTo>
                    <a:pt x="0" y="0"/>
                  </a:moveTo>
                  <a:lnTo>
                    <a:pt x="930514" y="0"/>
                  </a:lnTo>
                  <a:lnTo>
                    <a:pt x="93051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0199"/>
              <a:ext cx="93051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Teamkoordinering</a:t>
              </a:r>
              <a:endParaRPr lang="en-US" sz="2981" spc="29" dirty="0">
                <a:solidFill>
                  <a:srgbClr val="FFFAEB"/>
                </a:solidFill>
                <a:latin typeface="DM San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18805" y="2600541"/>
            <a:ext cx="3474003" cy="864710"/>
            <a:chOff x="0" y="-28575"/>
            <a:chExt cx="914964" cy="2277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Filbehandling</a:t>
              </a:r>
              <a:endParaRPr lang="en-US" sz="2981" spc="29" dirty="0">
                <a:solidFill>
                  <a:srgbClr val="FFFAEB"/>
                </a:solidFill>
                <a:latin typeface="DM Sans Bold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884284" y="1759042"/>
            <a:ext cx="3474003" cy="864710"/>
            <a:chOff x="0" y="-41852"/>
            <a:chExt cx="914964" cy="2277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1852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Daglig</a:t>
              </a:r>
              <a:r>
                <a:rPr lang="en-US" sz="2981" spc="29" dirty="0">
                  <a:solidFill>
                    <a:srgbClr val="FFFAEB"/>
                  </a:solidFill>
                  <a:latin typeface="DM Sans Bold"/>
                </a:rPr>
                <a:t> stand up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5070582" y="-539034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484748" y="5143500"/>
            <a:ext cx="13318504" cy="4847846"/>
          </a:xfrm>
          <a:custGeom>
            <a:avLst/>
            <a:gdLst/>
            <a:ahLst/>
            <a:cxnLst/>
            <a:rect l="l" t="t" r="r" b="b"/>
            <a:pathLst>
              <a:path w="13318504" h="4847846">
                <a:moveTo>
                  <a:pt x="0" y="0"/>
                </a:moveTo>
                <a:lnTo>
                  <a:pt x="13318504" y="0"/>
                </a:lnTo>
                <a:lnTo>
                  <a:pt x="13318504" y="4847846"/>
                </a:lnTo>
                <a:lnTo>
                  <a:pt x="0" y="48478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ln w="38100" cap="sq">
            <a:solidFill>
              <a:srgbClr val="040506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179318" y="388159"/>
            <a:ext cx="11552977" cy="116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6947" spc="368">
                <a:solidFill>
                  <a:srgbClr val="B40004"/>
                </a:solidFill>
                <a:latin typeface="Oswald Bold"/>
              </a:rPr>
              <a:t>ORGANISATORISK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6879" y="2670936"/>
            <a:ext cx="4600583" cy="1779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010" spc="197" dirty="0">
                <a:solidFill>
                  <a:srgbClr val="B40004"/>
                </a:solidFill>
                <a:latin typeface="DM Sans"/>
              </a:rPr>
              <a:t>Teambuilding</a:t>
            </a:r>
          </a:p>
          <a:p>
            <a:pPr algn="ctr">
              <a:lnSpc>
                <a:spcPts val="2774"/>
              </a:lnSpc>
            </a:pP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Teamkontrakt</a:t>
            </a:r>
            <a:endParaRPr lang="en-US" sz="2010" spc="197" dirty="0">
              <a:solidFill>
                <a:srgbClr val="B40004"/>
              </a:solidFill>
              <a:latin typeface="DM Sans"/>
            </a:endParaRPr>
          </a:p>
          <a:p>
            <a:pPr algn="ctr">
              <a:lnSpc>
                <a:spcPts val="2774"/>
              </a:lnSpc>
            </a:pP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Kompetansekartlegging</a:t>
            </a:r>
            <a:endParaRPr lang="en-US" sz="2010" spc="197" dirty="0">
              <a:solidFill>
                <a:srgbClr val="B40004"/>
              </a:solidFill>
              <a:latin typeface="DM Sans"/>
            </a:endParaRPr>
          </a:p>
          <a:p>
            <a:pPr algn="ctr">
              <a:lnSpc>
                <a:spcPts val="2774"/>
              </a:lnSpc>
            </a:pPr>
            <a:r>
              <a:rPr lang="en-US" sz="2010" spc="197" dirty="0">
                <a:solidFill>
                  <a:srgbClr val="B40004"/>
                </a:solidFill>
                <a:latin typeface="DM Sans"/>
              </a:rPr>
              <a:t>Divide and Conquer</a:t>
            </a:r>
          </a:p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 dirty="0">
                <a:solidFill>
                  <a:srgbClr val="B40004"/>
                </a:solidFill>
                <a:latin typeface="DM Sans"/>
              </a:rPr>
              <a:t>Timetable / Kanban-board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5425" y="3657616"/>
            <a:ext cx="4840764" cy="701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Filportal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og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linkportal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på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Teams</a:t>
            </a:r>
          </a:p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Mappeinndeling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på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Teams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67587" y="2829128"/>
            <a:ext cx="4707397" cy="1420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010" spc="197" dirty="0">
                <a:solidFill>
                  <a:srgbClr val="B40004"/>
                </a:solidFill>
                <a:latin typeface="DM Sans"/>
              </a:rPr>
              <a:t>Check-in</a:t>
            </a:r>
          </a:p>
          <a:p>
            <a:pPr algn="ctr">
              <a:lnSpc>
                <a:spcPts val="2774"/>
              </a:lnSpc>
            </a:pP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Oppsummering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av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gårsdagen</a:t>
            </a:r>
            <a:endParaRPr lang="en-US" sz="2010" spc="197" dirty="0">
              <a:solidFill>
                <a:srgbClr val="B40004"/>
              </a:solidFill>
              <a:latin typeface="DM Sans"/>
            </a:endParaRPr>
          </a:p>
          <a:p>
            <a:pPr algn="ctr">
              <a:lnSpc>
                <a:spcPts val="2774"/>
              </a:lnSpc>
            </a:pPr>
            <a:r>
              <a:rPr lang="en-US" sz="2010" spc="197" dirty="0">
                <a:solidFill>
                  <a:srgbClr val="B40004"/>
                </a:solidFill>
                <a:latin typeface="DM Sans"/>
              </a:rPr>
              <a:t>Plan for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dagen</a:t>
            </a:r>
            <a:endParaRPr lang="en-US" sz="2010" spc="197" dirty="0">
              <a:solidFill>
                <a:srgbClr val="B40004"/>
              </a:solidFill>
              <a:latin typeface="DM Sans"/>
            </a:endParaRPr>
          </a:p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endParaRPr lang="en-US" sz="2010" spc="197" dirty="0">
              <a:solidFill>
                <a:srgbClr val="B40004"/>
              </a:solidFill>
              <a:latin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252096"/>
            <a:chOff x="0" y="0"/>
            <a:chExt cx="4816593" cy="8565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56519"/>
            </a:xfrm>
            <a:custGeom>
              <a:avLst/>
              <a:gdLst/>
              <a:ahLst/>
              <a:cxnLst/>
              <a:rect l="l" t="t" r="r" b="b"/>
              <a:pathLst>
                <a:path w="4816592" h="856519">
                  <a:moveTo>
                    <a:pt x="0" y="0"/>
                  </a:moveTo>
                  <a:lnTo>
                    <a:pt x="4816592" y="0"/>
                  </a:lnTo>
                  <a:lnTo>
                    <a:pt x="4816592" y="856519"/>
                  </a:lnTo>
                  <a:lnTo>
                    <a:pt x="0" y="856519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816593" cy="875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32661">
            <a:off x="-4160550" y="-404522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6799892">
            <a:off x="16054390" y="6144973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1"/>
                </a:lnTo>
                <a:lnTo>
                  <a:pt x="0" y="68851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261546" y="4189954"/>
            <a:ext cx="4473739" cy="2443073"/>
          </a:xfrm>
          <a:custGeom>
            <a:avLst/>
            <a:gdLst/>
            <a:ahLst/>
            <a:cxnLst/>
            <a:rect l="l" t="t" r="r" b="b"/>
            <a:pathLst>
              <a:path w="4473739" h="2443073">
                <a:moveTo>
                  <a:pt x="0" y="0"/>
                </a:moveTo>
                <a:lnTo>
                  <a:pt x="4473740" y="0"/>
                </a:lnTo>
                <a:lnTo>
                  <a:pt x="4473740" y="2443073"/>
                </a:lnTo>
                <a:lnTo>
                  <a:pt x="0" y="2443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28" b="-18474"/>
            </a:stretch>
          </a:blipFill>
          <a:ln w="38100" cap="sq">
            <a:solidFill>
              <a:srgbClr val="B4000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179166" y="1232286"/>
            <a:ext cx="14319877" cy="134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sz="8030" spc="786" dirty="0">
                <a:solidFill>
                  <a:srgbClr val="FFFAEB"/>
                </a:solidFill>
                <a:latin typeface="Oswald Bold"/>
              </a:rPr>
              <a:t>RECAP FORRIGE UKE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992022" y="3824923"/>
            <a:ext cx="9034431" cy="2808103"/>
            <a:chOff x="0" y="0"/>
            <a:chExt cx="1744696" cy="5422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44696" cy="542290"/>
            </a:xfrm>
            <a:custGeom>
              <a:avLst/>
              <a:gdLst/>
              <a:ahLst/>
              <a:cxnLst/>
              <a:rect l="l" t="t" r="r" b="b"/>
              <a:pathLst>
                <a:path w="1744696" h="542290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B4000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323213" y="4081838"/>
            <a:ext cx="8401231" cy="137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7769" lvl="1" indent="-213884" algn="l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Innsiktsarbeid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  <a:p>
            <a:pPr marL="884969" lvl="2" indent="-213884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Kundeintervjuer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over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tlf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  <a:p>
            <a:pPr marL="884969" lvl="2" indent="-213884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Medlytt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  <a:p>
            <a:pPr algn="l">
              <a:lnSpc>
                <a:spcPts val="2734"/>
              </a:lnSpc>
            </a:pPr>
            <a:endParaRPr lang="en-US" sz="1981" spc="194" dirty="0">
              <a:solidFill>
                <a:srgbClr val="B40004"/>
              </a:solidFill>
              <a:latin typeface="DM San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1509238" y="7251625"/>
            <a:ext cx="4473739" cy="2443073"/>
          </a:xfrm>
          <a:custGeom>
            <a:avLst/>
            <a:gdLst/>
            <a:ahLst/>
            <a:cxnLst/>
            <a:rect l="l" t="t" r="r" b="b"/>
            <a:pathLst>
              <a:path w="4473739" h="2443073">
                <a:moveTo>
                  <a:pt x="0" y="0"/>
                </a:moveTo>
                <a:lnTo>
                  <a:pt x="4473739" y="0"/>
                </a:lnTo>
                <a:lnTo>
                  <a:pt x="4473739" y="2443073"/>
                </a:lnTo>
                <a:lnTo>
                  <a:pt x="0" y="2443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039" b="-11039"/>
            </a:stretch>
          </a:blipFill>
          <a:ln w="38100" cap="sq">
            <a:solidFill>
              <a:srgbClr val="B40004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1494949" y="6728160"/>
            <a:ext cx="4515338" cy="853740"/>
            <a:chOff x="0" y="-35346"/>
            <a:chExt cx="1178269" cy="2248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8269" cy="167703"/>
            </a:xfrm>
            <a:custGeom>
              <a:avLst/>
              <a:gdLst/>
              <a:ahLst/>
              <a:cxnLst/>
              <a:rect l="l" t="t" r="r" b="b"/>
              <a:pathLst>
                <a:path w="1178269" h="167703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5346"/>
              <a:ext cx="1178269" cy="224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Onsdag</a:t>
              </a:r>
              <a:r>
                <a:rPr lang="en-US" sz="2981" spc="29" dirty="0">
                  <a:solidFill>
                    <a:srgbClr val="FFFAEB"/>
                  </a:solidFill>
                  <a:latin typeface="DM Sans Bold"/>
                </a:rPr>
                <a:t> - </a:t>
              </a: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fredag</a:t>
              </a:r>
              <a:endParaRPr lang="en-US" sz="2981" spc="29" dirty="0">
                <a:solidFill>
                  <a:srgbClr val="FFFAEB"/>
                </a:solidFill>
                <a:latin typeface="DM Sans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277713" y="6886594"/>
            <a:ext cx="9034431" cy="2808103"/>
            <a:chOff x="0" y="0"/>
            <a:chExt cx="1744696" cy="54229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44696" cy="542290"/>
            </a:xfrm>
            <a:custGeom>
              <a:avLst/>
              <a:gdLst/>
              <a:ahLst/>
              <a:cxnLst/>
              <a:rect l="l" t="t" r="r" b="b"/>
              <a:pathLst>
                <a:path w="1744696" h="542290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B4000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744696" cy="561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608904" y="7143509"/>
            <a:ext cx="8512431" cy="2063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7769" lvl="1" indent="-213884" algn="l">
              <a:lnSpc>
                <a:spcPts val="2734"/>
              </a:lnSpc>
              <a:buFont typeface="Arial"/>
              <a:buChar char="•"/>
            </a:pPr>
            <a:r>
              <a:rPr lang="en-US" sz="1981" spc="194" dirty="0">
                <a:solidFill>
                  <a:srgbClr val="B40004"/>
                </a:solidFill>
                <a:latin typeface="DM Sans"/>
              </a:rPr>
              <a:t>Stockholm</a:t>
            </a:r>
          </a:p>
          <a:p>
            <a:pPr marL="884969" lvl="2" indent="-213884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Møtte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Sandbox Sverige</a:t>
            </a:r>
          </a:p>
          <a:p>
            <a:pPr marL="884969" lvl="2" indent="-213884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Presentasjoner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og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workshops</a:t>
            </a:r>
          </a:p>
          <a:p>
            <a:pPr marL="1342169" lvl="3" indent="-213884">
              <a:lnSpc>
                <a:spcPts val="2734"/>
              </a:lnSpc>
              <a:buFont typeface="Arial"/>
              <a:buChar char="•"/>
            </a:pP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Innovasjon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,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kulturbygging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, digital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forretningsutvikling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og</a:t>
            </a:r>
            <a:r>
              <a:rPr lang="en-US" sz="1981" spc="194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bærekraft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  <a:p>
            <a:pPr marL="884969" lvl="2" indent="-213884">
              <a:lnSpc>
                <a:spcPts val="2734"/>
              </a:lnSpc>
              <a:buFont typeface="Arial"/>
              <a:buChar char="•"/>
            </a:pPr>
            <a:r>
              <a:rPr lang="en-US" sz="1981" spc="194" dirty="0">
                <a:solidFill>
                  <a:srgbClr val="B40004"/>
                </a:solidFill>
                <a:latin typeface="DM Sans"/>
              </a:rPr>
              <a:t>Open insurance med </a:t>
            </a:r>
            <a:r>
              <a:rPr lang="en-US" sz="1981" spc="194" dirty="0" err="1">
                <a:solidFill>
                  <a:srgbClr val="B40004"/>
                </a:solidFill>
                <a:latin typeface="DM Sans"/>
              </a:rPr>
              <a:t>Insurely</a:t>
            </a:r>
            <a:endParaRPr lang="en-US" sz="1981" spc="194" dirty="0">
              <a:solidFill>
                <a:srgbClr val="B40004"/>
              </a:solidFill>
              <a:latin typeface="DM Sans"/>
            </a:endParaRPr>
          </a:p>
        </p:txBody>
      </p:sp>
      <p:grpSp>
        <p:nvGrpSpPr>
          <p:cNvPr id="24" name="Group 17">
            <a:extLst>
              <a:ext uri="{FF2B5EF4-FFF2-40B4-BE49-F238E27FC236}">
                <a16:creationId xmlns:a16="http://schemas.microsoft.com/office/drawing/2014/main" id="{5C3104B8-6120-42BE-C0A3-6789B4968828}"/>
              </a:ext>
            </a:extLst>
          </p:cNvPr>
          <p:cNvGrpSpPr/>
          <p:nvPr/>
        </p:nvGrpSpPr>
        <p:grpSpPr>
          <a:xfrm>
            <a:off x="2240746" y="3680161"/>
            <a:ext cx="4515338" cy="853740"/>
            <a:chOff x="0" y="-36000"/>
            <a:chExt cx="1178269" cy="224853"/>
          </a:xfrm>
        </p:grpSpPr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B3FE8563-63F3-F61E-2AE9-84EAB5ACE639}"/>
                </a:ext>
              </a:extLst>
            </p:cNvPr>
            <p:cNvSpPr/>
            <p:nvPr/>
          </p:nvSpPr>
          <p:spPr>
            <a:xfrm>
              <a:off x="0" y="0"/>
              <a:ext cx="1178269" cy="167703"/>
            </a:xfrm>
            <a:custGeom>
              <a:avLst/>
              <a:gdLst/>
              <a:ahLst/>
              <a:cxnLst/>
              <a:rect l="l" t="t" r="r" b="b"/>
              <a:pathLst>
                <a:path w="1178269" h="167703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19">
              <a:extLst>
                <a:ext uri="{FF2B5EF4-FFF2-40B4-BE49-F238E27FC236}">
                  <a16:creationId xmlns:a16="http://schemas.microsoft.com/office/drawing/2014/main" id="{728B1220-851F-6214-39FA-0E0F005FABFF}"/>
                </a:ext>
              </a:extLst>
            </p:cNvPr>
            <p:cNvSpPr txBox="1"/>
            <p:nvPr/>
          </p:nvSpPr>
          <p:spPr>
            <a:xfrm>
              <a:off x="0" y="-36000"/>
              <a:ext cx="1178269" cy="2248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Mandag</a:t>
              </a:r>
              <a:r>
                <a:rPr lang="en-US" sz="2981" spc="29" dirty="0">
                  <a:solidFill>
                    <a:srgbClr val="FFFAEB"/>
                  </a:solidFill>
                  <a:latin typeface="DM Sans Bold"/>
                </a:rPr>
                <a:t> - </a:t>
              </a:r>
              <a:r>
                <a:rPr lang="en-US" sz="2981" spc="29" dirty="0" err="1">
                  <a:solidFill>
                    <a:srgbClr val="FFFAEB"/>
                  </a:solidFill>
                  <a:latin typeface="DM Sans Bold"/>
                </a:rPr>
                <a:t>onsdag</a:t>
              </a:r>
              <a:endParaRPr lang="en-US" sz="2981" spc="29" dirty="0">
                <a:solidFill>
                  <a:srgbClr val="FFFAEB"/>
                </a:solidFill>
                <a:latin typeface="DM Sans 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106315" y="7936159"/>
            <a:ext cx="1104804" cy="1121111"/>
          </a:xfrm>
          <a:custGeom>
            <a:avLst/>
            <a:gdLst/>
            <a:ahLst/>
            <a:cxnLst/>
            <a:rect l="l" t="t" r="r" b="b"/>
            <a:pathLst>
              <a:path w="1104804" h="1121111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75546" y="1562101"/>
            <a:ext cx="3474003" cy="864710"/>
            <a:chOff x="0" y="-34191"/>
            <a:chExt cx="914964" cy="22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4191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FFF"/>
                  </a:solidFill>
                  <a:latin typeface="DM Sans Bold"/>
                </a:rPr>
                <a:t>Samleplatform</a:t>
              </a:r>
              <a:endParaRPr lang="en-US" sz="2981" spc="29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67511" y="479135"/>
            <a:ext cx="11552977" cy="116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6947" spc="368" dirty="0">
                <a:solidFill>
                  <a:srgbClr val="B40004"/>
                </a:solidFill>
                <a:latin typeface="Oswald Bold"/>
              </a:rPr>
              <a:t>FORRIGE UKE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32095" y="2530971"/>
            <a:ext cx="3360904" cy="204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Kunden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ønsker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en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bedre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oversikt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over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sitt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kundeforhold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og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ønsker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å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administrere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og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modifisere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dette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fra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samme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 </a:t>
            </a:r>
            <a:r>
              <a:rPr lang="en-US" sz="2010" spc="197" dirty="0" err="1">
                <a:solidFill>
                  <a:srgbClr val="B40004"/>
                </a:solidFill>
                <a:latin typeface="DM Sans"/>
              </a:rPr>
              <a:t>verktøy</a:t>
            </a:r>
            <a:r>
              <a:rPr lang="en-US" sz="2010" spc="197" dirty="0">
                <a:solidFill>
                  <a:srgbClr val="B40004"/>
                </a:solidFill>
                <a:latin typeface="DM Sans"/>
              </a:rPr>
              <a:t>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406999" y="2476498"/>
            <a:ext cx="3474003" cy="864710"/>
            <a:chOff x="0" y="-43301"/>
            <a:chExt cx="914964" cy="2277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3301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FFF"/>
                  </a:solidFill>
                  <a:latin typeface="DM Sans Bold"/>
                </a:rPr>
                <a:t>Kundeservice</a:t>
              </a:r>
              <a:endParaRPr lang="en-US" sz="2981" spc="29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406999" y="3457129"/>
            <a:ext cx="3474003" cy="204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>
                <a:solidFill>
                  <a:srgbClr val="B40004"/>
                </a:solidFill>
                <a:latin typeface="DM Sans"/>
              </a:rPr>
              <a:t>SmB kundene ønsker å kunne nå en kunnskapsrik kontaktperson som forstår og kan bistå deres unike behov 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284209" y="1562101"/>
            <a:ext cx="3474003" cy="864710"/>
            <a:chOff x="0" y="-34191"/>
            <a:chExt cx="914964" cy="22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4191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FFF"/>
                  </a:solidFill>
                  <a:latin typeface="DM Sans Bold"/>
                </a:rPr>
                <a:t>Personalisering</a:t>
              </a:r>
              <a:endParaRPr lang="en-US" sz="2981" spc="29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40758" y="2530971"/>
            <a:ext cx="3360904" cy="170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>
                <a:solidFill>
                  <a:srgbClr val="B40004"/>
                </a:solidFill>
                <a:latin typeface="DM Sans"/>
              </a:rPr>
              <a:t>Kunden ønsker seg en tjeneste som tilpasser seg deres behov (personalisert tjeneste). 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7406999" y="6362698"/>
            <a:ext cx="3474003" cy="864710"/>
            <a:chOff x="0" y="-39211"/>
            <a:chExt cx="914964" cy="2277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9211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FFF"/>
                  </a:solidFill>
                  <a:latin typeface="DM Sans Bold"/>
                </a:rPr>
                <a:t>Brukervennlig</a:t>
              </a:r>
              <a:endParaRPr lang="en-US" sz="2981" spc="29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463548" y="7350629"/>
            <a:ext cx="3360904" cy="1706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>
                <a:solidFill>
                  <a:srgbClr val="B40004"/>
                </a:solidFill>
                <a:latin typeface="DM Sans"/>
              </a:rPr>
              <a:t>Kunden ønsker seg en tjeneste som er lett å forstå og navigere, der de enkelt får utført oppgavene de skal.  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3284209" y="5421792"/>
            <a:ext cx="3474003" cy="864710"/>
            <a:chOff x="0" y="-35321"/>
            <a:chExt cx="914964" cy="22774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5321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FFF"/>
                  </a:solidFill>
                  <a:latin typeface="DM Sans Bold"/>
                </a:rPr>
                <a:t>Grunnhypotese</a:t>
              </a:r>
              <a:endParaRPr lang="en-US" sz="2981" spc="29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284209" y="6474665"/>
            <a:ext cx="3360904" cy="102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>
                <a:solidFill>
                  <a:srgbClr val="B40004"/>
                </a:solidFill>
                <a:latin typeface="DM Sans"/>
              </a:rPr>
              <a:t>Tjenesten er enkel og dekker alle kundens behov  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32696" y="5448301"/>
            <a:ext cx="3474003" cy="864710"/>
            <a:chOff x="0" y="-28339"/>
            <a:chExt cx="914964" cy="22774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B4000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339"/>
              <a:ext cx="914964" cy="22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 dirty="0" err="1">
                  <a:solidFill>
                    <a:srgbClr val="FFFFFF"/>
                  </a:solidFill>
                  <a:latin typeface="DM Sans Bold"/>
                </a:rPr>
                <a:t>Kompetanse</a:t>
              </a:r>
              <a:endParaRPr lang="en-US" sz="2981" spc="29" dirty="0">
                <a:solidFill>
                  <a:srgbClr val="FFFFFF"/>
                </a:solidFill>
                <a:latin typeface="DM Sans Bold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589245" y="6394952"/>
            <a:ext cx="3360904" cy="204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74"/>
              </a:lnSpc>
              <a:spcBef>
                <a:spcPct val="0"/>
              </a:spcBef>
            </a:pPr>
            <a:r>
              <a:rPr lang="en-US" sz="2010" spc="197">
                <a:solidFill>
                  <a:srgbClr val="B40004"/>
                </a:solidFill>
                <a:latin typeface="DM Sans"/>
              </a:rPr>
              <a:t> Brukeren har for lite kompetanse i bedriftsportalen og trenger hjelp for å gjennomføre relevante oppgaver.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2651891">
            <a:off x="-10439473" y="-9546211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4261758"/>
            <a:ext cx="18288000" cy="17025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48"/>
              </a:lnSpc>
            </a:pPr>
            <a:r>
              <a:rPr lang="en-US" sz="10107" spc="990" dirty="0">
                <a:solidFill>
                  <a:srgbClr val="FFFAEB"/>
                </a:solidFill>
                <a:latin typeface="Oswald Bold"/>
              </a:rPr>
              <a:t> SPØRSMÅL?</a:t>
            </a:r>
          </a:p>
        </p:txBody>
      </p:sp>
      <p:sp>
        <p:nvSpPr>
          <p:cNvPr id="4" name="Freeform 4"/>
          <p:cNvSpPr/>
          <p:nvPr/>
        </p:nvSpPr>
        <p:spPr>
          <a:xfrm rot="16533877">
            <a:off x="12442866" y="3020422"/>
            <a:ext cx="15841853" cy="16255633"/>
          </a:xfrm>
          <a:custGeom>
            <a:avLst/>
            <a:gdLst/>
            <a:ahLst/>
            <a:cxnLst/>
            <a:rect l="l" t="t" r="r" b="b"/>
            <a:pathLst>
              <a:path w="15841853" h="16255633">
                <a:moveTo>
                  <a:pt x="0" y="0"/>
                </a:moveTo>
                <a:lnTo>
                  <a:pt x="15841853" y="0"/>
                </a:lnTo>
                <a:lnTo>
                  <a:pt x="15841853" y="16255632"/>
                </a:lnTo>
                <a:lnTo>
                  <a:pt x="0" y="16255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5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92797F43A1AA41A73B6984EE5F6563" ma:contentTypeVersion="13" ma:contentTypeDescription="Create a new document." ma:contentTypeScope="" ma:versionID="b91504213670c49cd74b42f5f4707c67">
  <xsd:schema xmlns:xsd="http://www.w3.org/2001/XMLSchema" xmlns:xs="http://www.w3.org/2001/XMLSchema" xmlns:p="http://schemas.microsoft.com/office/2006/metadata/properties" xmlns:ns2="1583ab8d-8bf9-4e4b-9234-373895614aa2" xmlns:ns3="eebcfce1-5823-48d2-ad4a-6ffd98389b0d" targetNamespace="http://schemas.microsoft.com/office/2006/metadata/properties" ma:root="true" ma:fieldsID="07ecd03aefc2d711b1fc489d2e5527e1" ns2:_="" ns3:_="">
    <xsd:import namespace="1583ab8d-8bf9-4e4b-9234-373895614aa2"/>
    <xsd:import namespace="eebcfce1-5823-48d2-ad4a-6ffd98389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3ab8d-8bf9-4e4b-9234-373895614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90f9247-10a2-44e6-a579-5446f749d1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cfce1-5823-48d2-ad4a-6ffd98389b0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e2ef1c7-27ce-40b9-956e-8907e4257748}" ma:internalName="TaxCatchAll" ma:showField="CatchAllData" ma:web="eebcfce1-5823-48d2-ad4a-6ffd98389b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ebcfce1-5823-48d2-ad4a-6ffd98389b0d">
      <UserInfo>
        <DisplayName>Sorteberg, Hanne</DisplayName>
        <AccountId>17</AccountId>
        <AccountType/>
      </UserInfo>
    </SharedWithUsers>
    <TaxCatchAll xmlns="eebcfce1-5823-48d2-ad4a-6ffd98389b0d" xsi:nil="true"/>
    <lcf76f155ced4ddcb4097134ff3c332f xmlns="1583ab8d-8bf9-4e4b-9234-373895614aa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1185F6-F1C8-4BC9-B4BB-BE635923A631}"/>
</file>

<file path=customXml/itemProps2.xml><?xml version="1.0" encoding="utf-8"?>
<ds:datastoreItem xmlns:ds="http://schemas.openxmlformats.org/officeDocument/2006/customXml" ds:itemID="{7B087F9A-83E5-4DBD-B5FB-08A654092C6E}">
  <ds:schemaRefs>
    <ds:schemaRef ds:uri="1583ab8d-8bf9-4e4b-9234-373895614aa2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eebcfce1-5823-48d2-ad4a-6ffd98389b0d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7C39BD3-C3EE-4641-8176-B23150B4493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3d8a03-6c4f-48cf-a1a6-1b38e749645c}" enabled="1" method="Standard" siteId="{44b5383f-aeed-4959-a674-24d907b9396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263</Words>
  <Application>Microsoft Office PowerPoint</Application>
  <PresentationFormat>Egendefinert</PresentationFormat>
  <Paragraphs>65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5" baseType="lpstr">
      <vt:lpstr>Montserrat Classic</vt:lpstr>
      <vt:lpstr>DM Sans Bold</vt:lpstr>
      <vt:lpstr>DM Sans</vt:lpstr>
      <vt:lpstr>Oswald Bold</vt:lpstr>
      <vt:lpstr>Calibri</vt:lpstr>
      <vt:lpstr>Arial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</dc:title>
  <cp:lastModifiedBy>Brødremoen, Emma</cp:lastModifiedBy>
  <cp:revision>5</cp:revision>
  <dcterms:created xsi:type="dcterms:W3CDTF">2006-08-16T00:00:00Z</dcterms:created>
  <dcterms:modified xsi:type="dcterms:W3CDTF">2024-07-02T14:07:00Z</dcterms:modified>
  <dc:identifier>DAGIrPid7WQ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0x0101004A92797F43A1AA41A73B6984EE5F6563</vt:lpwstr>
  </property>
</Properties>
</file>