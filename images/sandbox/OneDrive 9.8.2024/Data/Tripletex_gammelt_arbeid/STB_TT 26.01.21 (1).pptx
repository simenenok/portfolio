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9144000" cy="5143500"/>
  <p:defaultTextStyle>
    <a:defPPr>
      <a:defRPr lang="nb-N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37" d="100"/>
          <a:sy n="137" d="100"/>
        </p:scale>
        <p:origin x="864" y="12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2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ustomXml" Target="../customXml/item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2/3/2021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2/3/2021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2/3/2021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2/3/2021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2/3/2021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7732891" y="4517440"/>
            <a:ext cx="1283316" cy="44818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57200" y="205740"/>
            <a:ext cx="8229600" cy="822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57200" y="1183005"/>
            <a:ext cx="822960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2/3/2021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7.jpg"/><Relationship Id="rId4" Type="http://schemas.openxmlformats.org/officeDocument/2006/relationships/image" Target="../media/image6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18" Type="http://schemas.openxmlformats.org/officeDocument/2006/relationships/image" Target="../media/image29.png"/><Relationship Id="rId3" Type="http://schemas.openxmlformats.org/officeDocument/2006/relationships/image" Target="../media/image14.png"/><Relationship Id="rId21" Type="http://schemas.openxmlformats.org/officeDocument/2006/relationships/image" Target="../media/image32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17" Type="http://schemas.openxmlformats.org/officeDocument/2006/relationships/image" Target="../media/image28.png"/><Relationship Id="rId25" Type="http://schemas.openxmlformats.org/officeDocument/2006/relationships/image" Target="../media/image36.png"/><Relationship Id="rId2" Type="http://schemas.openxmlformats.org/officeDocument/2006/relationships/image" Target="../media/image13.png"/><Relationship Id="rId16" Type="http://schemas.openxmlformats.org/officeDocument/2006/relationships/image" Target="../media/image27.png"/><Relationship Id="rId20" Type="http://schemas.openxmlformats.org/officeDocument/2006/relationships/image" Target="../media/image3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24" Type="http://schemas.openxmlformats.org/officeDocument/2006/relationships/image" Target="../media/image35.jpg"/><Relationship Id="rId5" Type="http://schemas.openxmlformats.org/officeDocument/2006/relationships/image" Target="../media/image16.png"/><Relationship Id="rId15" Type="http://schemas.openxmlformats.org/officeDocument/2006/relationships/image" Target="../media/image26.png"/><Relationship Id="rId23" Type="http://schemas.openxmlformats.org/officeDocument/2006/relationships/image" Target="../media/image34.png"/><Relationship Id="rId10" Type="http://schemas.openxmlformats.org/officeDocument/2006/relationships/image" Target="../media/image21.png"/><Relationship Id="rId19" Type="http://schemas.openxmlformats.org/officeDocument/2006/relationships/image" Target="../media/image30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Relationship Id="rId14" Type="http://schemas.openxmlformats.org/officeDocument/2006/relationships/image" Target="../media/image25.png"/><Relationship Id="rId22" Type="http://schemas.openxmlformats.org/officeDocument/2006/relationships/image" Target="../media/image3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image" Target="../media/image47.png"/><Relationship Id="rId18" Type="http://schemas.openxmlformats.org/officeDocument/2006/relationships/image" Target="../media/image52.png"/><Relationship Id="rId3" Type="http://schemas.openxmlformats.org/officeDocument/2006/relationships/image" Target="../media/image37.png"/><Relationship Id="rId21" Type="http://schemas.openxmlformats.org/officeDocument/2006/relationships/image" Target="../media/image55.png"/><Relationship Id="rId7" Type="http://schemas.openxmlformats.org/officeDocument/2006/relationships/image" Target="../media/image41.png"/><Relationship Id="rId12" Type="http://schemas.openxmlformats.org/officeDocument/2006/relationships/image" Target="../media/image46.png"/><Relationship Id="rId17" Type="http://schemas.openxmlformats.org/officeDocument/2006/relationships/image" Target="../media/image51.png"/><Relationship Id="rId2" Type="http://schemas.openxmlformats.org/officeDocument/2006/relationships/image" Target="../media/image13.png"/><Relationship Id="rId16" Type="http://schemas.openxmlformats.org/officeDocument/2006/relationships/image" Target="../media/image50.png"/><Relationship Id="rId20" Type="http://schemas.openxmlformats.org/officeDocument/2006/relationships/image" Target="../media/image54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0.png"/><Relationship Id="rId11" Type="http://schemas.openxmlformats.org/officeDocument/2006/relationships/image" Target="../media/image45.png"/><Relationship Id="rId5" Type="http://schemas.openxmlformats.org/officeDocument/2006/relationships/image" Target="../media/image39.png"/><Relationship Id="rId15" Type="http://schemas.openxmlformats.org/officeDocument/2006/relationships/image" Target="../media/image49.png"/><Relationship Id="rId10" Type="http://schemas.openxmlformats.org/officeDocument/2006/relationships/image" Target="../media/image44.png"/><Relationship Id="rId19" Type="http://schemas.openxmlformats.org/officeDocument/2006/relationships/image" Target="../media/image53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Relationship Id="rId14" Type="http://schemas.openxmlformats.org/officeDocument/2006/relationships/image" Target="../media/image48.png"/><Relationship Id="rId22" Type="http://schemas.openxmlformats.org/officeDocument/2006/relationships/image" Target="../media/image5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jpg"/><Relationship Id="rId3" Type="http://schemas.openxmlformats.org/officeDocument/2006/relationships/image" Target="../media/image58.jpg"/><Relationship Id="rId7" Type="http://schemas.openxmlformats.org/officeDocument/2006/relationships/image" Target="../media/image61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5.jpg"/><Relationship Id="rId5" Type="http://schemas.openxmlformats.org/officeDocument/2006/relationships/image" Target="../media/image60.jpg"/><Relationship Id="rId4" Type="http://schemas.openxmlformats.org/officeDocument/2006/relationships/image" Target="../media/image59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3999" y="0"/>
                </a:lnTo>
                <a:lnTo>
                  <a:pt x="9143999" y="5143499"/>
                </a:lnTo>
                <a:lnTo>
                  <a:pt x="0" y="5143499"/>
                </a:lnTo>
                <a:lnTo>
                  <a:pt x="0" y="0"/>
                </a:lnTo>
                <a:close/>
              </a:path>
            </a:pathLst>
          </a:custGeom>
          <a:solidFill>
            <a:srgbClr val="A2C4C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15200" y="669675"/>
            <a:ext cx="4242774" cy="407102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658499" y="4560125"/>
            <a:ext cx="1380073" cy="4658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473359" y="2225820"/>
            <a:ext cx="1153160" cy="280035"/>
          </a:xfrm>
          <a:custGeom>
            <a:avLst/>
            <a:gdLst/>
            <a:ahLst/>
            <a:cxnLst/>
            <a:rect l="l" t="t" r="r" b="b"/>
            <a:pathLst>
              <a:path w="1153160" h="280035">
                <a:moveTo>
                  <a:pt x="139183" y="262086"/>
                </a:moveTo>
                <a:lnTo>
                  <a:pt x="75009" y="262086"/>
                </a:lnTo>
                <a:lnTo>
                  <a:pt x="90878" y="261128"/>
                </a:lnTo>
                <a:lnTo>
                  <a:pt x="104998" y="258253"/>
                </a:lnTo>
                <a:lnTo>
                  <a:pt x="142726" y="229046"/>
                </a:lnTo>
                <a:lnTo>
                  <a:pt x="147637" y="206573"/>
                </a:lnTo>
                <a:lnTo>
                  <a:pt x="147228" y="199169"/>
                </a:lnTo>
                <a:lnTo>
                  <a:pt x="126801" y="166799"/>
                </a:lnTo>
                <a:lnTo>
                  <a:pt x="90152" y="149125"/>
                </a:lnTo>
                <a:lnTo>
                  <a:pt x="76795" y="144363"/>
                </a:lnTo>
                <a:lnTo>
                  <a:pt x="57568" y="137070"/>
                </a:lnTo>
                <a:lnTo>
                  <a:pt x="19198" y="113407"/>
                </a:lnTo>
                <a:lnTo>
                  <a:pt x="3274" y="69056"/>
                </a:lnTo>
                <a:lnTo>
                  <a:pt x="4771" y="54508"/>
                </a:lnTo>
                <a:lnTo>
                  <a:pt x="27235" y="19347"/>
                </a:lnTo>
                <a:lnTo>
                  <a:pt x="70795" y="1209"/>
                </a:lnTo>
                <a:lnTo>
                  <a:pt x="88701" y="0"/>
                </a:lnTo>
                <a:lnTo>
                  <a:pt x="107602" y="911"/>
                </a:lnTo>
                <a:lnTo>
                  <a:pt x="125908" y="3646"/>
                </a:lnTo>
                <a:lnTo>
                  <a:pt x="143619" y="8204"/>
                </a:lnTo>
                <a:lnTo>
                  <a:pt x="160734" y="14585"/>
                </a:lnTo>
                <a:lnTo>
                  <a:pt x="159800" y="16817"/>
                </a:lnTo>
                <a:lnTo>
                  <a:pt x="89148" y="16817"/>
                </a:lnTo>
                <a:lnTo>
                  <a:pt x="74768" y="17701"/>
                </a:lnTo>
                <a:lnTo>
                  <a:pt x="33263" y="38360"/>
                </a:lnTo>
                <a:lnTo>
                  <a:pt x="23217" y="68609"/>
                </a:lnTo>
                <a:lnTo>
                  <a:pt x="23561" y="75855"/>
                </a:lnTo>
                <a:lnTo>
                  <a:pt x="46583" y="110876"/>
                </a:lnTo>
                <a:lnTo>
                  <a:pt x="104375" y="134791"/>
                </a:lnTo>
                <a:lnTo>
                  <a:pt x="117313" y="140158"/>
                </a:lnTo>
                <a:lnTo>
                  <a:pt x="151097" y="161627"/>
                </a:lnTo>
                <a:lnTo>
                  <a:pt x="167561" y="196871"/>
                </a:lnTo>
                <a:lnTo>
                  <a:pt x="168026" y="205829"/>
                </a:lnTo>
                <a:lnTo>
                  <a:pt x="166454" y="221921"/>
                </a:lnTo>
                <a:lnTo>
                  <a:pt x="161738" y="236264"/>
                </a:lnTo>
                <a:lnTo>
                  <a:pt x="153878" y="248859"/>
                </a:lnTo>
                <a:lnTo>
                  <a:pt x="142875" y="259705"/>
                </a:lnTo>
                <a:lnTo>
                  <a:pt x="139183" y="262086"/>
                </a:lnTo>
                <a:close/>
              </a:path>
              <a:path w="1153160" h="280035">
                <a:moveTo>
                  <a:pt x="153888" y="30956"/>
                </a:moveTo>
                <a:lnTo>
                  <a:pt x="137117" y="24770"/>
                </a:lnTo>
                <a:lnTo>
                  <a:pt x="120736" y="20352"/>
                </a:lnTo>
                <a:lnTo>
                  <a:pt x="104747" y="17701"/>
                </a:lnTo>
                <a:lnTo>
                  <a:pt x="89148" y="16817"/>
                </a:lnTo>
                <a:lnTo>
                  <a:pt x="159800" y="16817"/>
                </a:lnTo>
                <a:lnTo>
                  <a:pt x="153888" y="30956"/>
                </a:lnTo>
                <a:close/>
              </a:path>
              <a:path w="1153160" h="280035">
                <a:moveTo>
                  <a:pt x="76497" y="279648"/>
                </a:moveTo>
                <a:lnTo>
                  <a:pt x="53020" y="278959"/>
                </a:lnTo>
                <a:lnTo>
                  <a:pt x="32444" y="276894"/>
                </a:lnTo>
                <a:lnTo>
                  <a:pt x="14771" y="273453"/>
                </a:lnTo>
                <a:lnTo>
                  <a:pt x="0" y="268634"/>
                </a:lnTo>
                <a:lnTo>
                  <a:pt x="0" y="249733"/>
                </a:lnTo>
                <a:lnTo>
                  <a:pt x="15682" y="255137"/>
                </a:lnTo>
                <a:lnTo>
                  <a:pt x="33411" y="258998"/>
                </a:lnTo>
                <a:lnTo>
                  <a:pt x="53187" y="261314"/>
                </a:lnTo>
                <a:lnTo>
                  <a:pt x="75009" y="262086"/>
                </a:lnTo>
                <a:lnTo>
                  <a:pt x="139183" y="262086"/>
                </a:lnTo>
                <a:lnTo>
                  <a:pt x="129350" y="268430"/>
                </a:lnTo>
                <a:lnTo>
                  <a:pt x="113779" y="274662"/>
                </a:lnTo>
                <a:lnTo>
                  <a:pt x="96161" y="278401"/>
                </a:lnTo>
                <a:lnTo>
                  <a:pt x="76497" y="279648"/>
                </a:lnTo>
                <a:close/>
              </a:path>
              <a:path w="1153160" h="280035">
                <a:moveTo>
                  <a:pt x="384720" y="21728"/>
                </a:moveTo>
                <a:lnTo>
                  <a:pt x="188862" y="21728"/>
                </a:lnTo>
                <a:lnTo>
                  <a:pt x="188862" y="3869"/>
                </a:lnTo>
                <a:lnTo>
                  <a:pt x="384720" y="3869"/>
                </a:lnTo>
                <a:lnTo>
                  <a:pt x="384720" y="21728"/>
                </a:lnTo>
                <a:close/>
              </a:path>
              <a:path w="1153160" h="280035">
                <a:moveTo>
                  <a:pt x="296316" y="275927"/>
                </a:moveTo>
                <a:lnTo>
                  <a:pt x="277117" y="275927"/>
                </a:lnTo>
                <a:lnTo>
                  <a:pt x="277117" y="21728"/>
                </a:lnTo>
                <a:lnTo>
                  <a:pt x="296316" y="21728"/>
                </a:lnTo>
                <a:lnTo>
                  <a:pt x="296316" y="275927"/>
                </a:lnTo>
                <a:close/>
              </a:path>
              <a:path w="1153160" h="280035">
                <a:moveTo>
                  <a:pt x="508434" y="275927"/>
                </a:moveTo>
                <a:lnTo>
                  <a:pt x="425090" y="275927"/>
                </a:lnTo>
                <a:lnTo>
                  <a:pt x="425090" y="3869"/>
                </a:lnTo>
                <a:lnTo>
                  <a:pt x="499653" y="3869"/>
                </a:lnTo>
                <a:lnTo>
                  <a:pt x="523195" y="4939"/>
                </a:lnTo>
                <a:lnTo>
                  <a:pt x="543371" y="8148"/>
                </a:lnTo>
                <a:lnTo>
                  <a:pt x="560179" y="13496"/>
                </a:lnTo>
                <a:lnTo>
                  <a:pt x="573086" y="20687"/>
                </a:lnTo>
                <a:lnTo>
                  <a:pt x="443991" y="20687"/>
                </a:lnTo>
                <a:lnTo>
                  <a:pt x="443991" y="125015"/>
                </a:lnTo>
                <a:lnTo>
                  <a:pt x="565237" y="125015"/>
                </a:lnTo>
                <a:lnTo>
                  <a:pt x="553798" y="129378"/>
                </a:lnTo>
                <a:lnTo>
                  <a:pt x="540729" y="132308"/>
                </a:lnTo>
                <a:lnTo>
                  <a:pt x="540729" y="133350"/>
                </a:lnTo>
                <a:lnTo>
                  <a:pt x="555947" y="136484"/>
                </a:lnTo>
                <a:lnTo>
                  <a:pt x="569007" y="140977"/>
                </a:lnTo>
                <a:lnTo>
                  <a:pt x="570601" y="141833"/>
                </a:lnTo>
                <a:lnTo>
                  <a:pt x="443991" y="141833"/>
                </a:lnTo>
                <a:lnTo>
                  <a:pt x="443991" y="259109"/>
                </a:lnTo>
                <a:lnTo>
                  <a:pt x="573671" y="259109"/>
                </a:lnTo>
                <a:lnTo>
                  <a:pt x="565249" y="264541"/>
                </a:lnTo>
                <a:lnTo>
                  <a:pt x="548915" y="270867"/>
                </a:lnTo>
                <a:lnTo>
                  <a:pt x="529976" y="274662"/>
                </a:lnTo>
                <a:lnTo>
                  <a:pt x="508434" y="275927"/>
                </a:lnTo>
                <a:close/>
              </a:path>
              <a:path w="1153160" h="280035">
                <a:moveTo>
                  <a:pt x="565237" y="125015"/>
                </a:moveTo>
                <a:lnTo>
                  <a:pt x="503969" y="125015"/>
                </a:lnTo>
                <a:lnTo>
                  <a:pt x="521791" y="124224"/>
                </a:lnTo>
                <a:lnTo>
                  <a:pt x="537009" y="121853"/>
                </a:lnTo>
                <a:lnTo>
                  <a:pt x="572690" y="95956"/>
                </a:lnTo>
                <a:lnTo>
                  <a:pt x="577043" y="72330"/>
                </a:lnTo>
                <a:lnTo>
                  <a:pt x="575816" y="59717"/>
                </a:lnTo>
                <a:lnTo>
                  <a:pt x="546375" y="27635"/>
                </a:lnTo>
                <a:lnTo>
                  <a:pt x="498909" y="20687"/>
                </a:lnTo>
                <a:lnTo>
                  <a:pt x="573086" y="20687"/>
                </a:lnTo>
                <a:lnTo>
                  <a:pt x="595805" y="56536"/>
                </a:lnTo>
                <a:lnTo>
                  <a:pt x="597284" y="72776"/>
                </a:lnTo>
                <a:lnTo>
                  <a:pt x="596382" y="84115"/>
                </a:lnTo>
                <a:lnTo>
                  <a:pt x="593675" y="94468"/>
                </a:lnTo>
                <a:lnTo>
                  <a:pt x="589164" y="103835"/>
                </a:lnTo>
                <a:lnTo>
                  <a:pt x="582848" y="112216"/>
                </a:lnTo>
                <a:lnTo>
                  <a:pt x="574857" y="119332"/>
                </a:lnTo>
                <a:lnTo>
                  <a:pt x="565237" y="125015"/>
                </a:lnTo>
                <a:close/>
              </a:path>
              <a:path w="1153160" h="280035">
                <a:moveTo>
                  <a:pt x="573671" y="259109"/>
                </a:moveTo>
                <a:lnTo>
                  <a:pt x="507987" y="259109"/>
                </a:lnTo>
                <a:lnTo>
                  <a:pt x="541064" y="255277"/>
                </a:lnTo>
                <a:lnTo>
                  <a:pt x="564691" y="243780"/>
                </a:lnTo>
                <a:lnTo>
                  <a:pt x="578867" y="224618"/>
                </a:lnTo>
                <a:lnTo>
                  <a:pt x="583592" y="197792"/>
                </a:lnTo>
                <a:lnTo>
                  <a:pt x="578615" y="173310"/>
                </a:lnTo>
                <a:lnTo>
                  <a:pt x="563686" y="155823"/>
                </a:lnTo>
                <a:lnTo>
                  <a:pt x="538804" y="145330"/>
                </a:lnTo>
                <a:lnTo>
                  <a:pt x="503969" y="141833"/>
                </a:lnTo>
                <a:lnTo>
                  <a:pt x="570601" y="141833"/>
                </a:lnTo>
                <a:lnTo>
                  <a:pt x="600149" y="172789"/>
                </a:lnTo>
                <a:lnTo>
                  <a:pt x="603981" y="197792"/>
                </a:lnTo>
                <a:lnTo>
                  <a:pt x="602419" y="215475"/>
                </a:lnTo>
                <a:lnTo>
                  <a:pt x="597730" y="231018"/>
                </a:lnTo>
                <a:lnTo>
                  <a:pt x="589917" y="244422"/>
                </a:lnTo>
                <a:lnTo>
                  <a:pt x="578978" y="255686"/>
                </a:lnTo>
                <a:lnTo>
                  <a:pt x="573671" y="259109"/>
                </a:lnTo>
                <a:close/>
              </a:path>
              <a:path w="1153160" h="280035">
                <a:moveTo>
                  <a:pt x="649374" y="275927"/>
                </a:moveTo>
                <a:lnTo>
                  <a:pt x="630026" y="275927"/>
                </a:lnTo>
                <a:lnTo>
                  <a:pt x="731229" y="3869"/>
                </a:lnTo>
                <a:lnTo>
                  <a:pt x="750875" y="3869"/>
                </a:lnTo>
                <a:lnTo>
                  <a:pt x="649374" y="275927"/>
                </a:lnTo>
                <a:close/>
              </a:path>
              <a:path w="1153160" h="280035">
                <a:moveTo>
                  <a:pt x="953058" y="21728"/>
                </a:moveTo>
                <a:lnTo>
                  <a:pt x="757200" y="21728"/>
                </a:lnTo>
                <a:lnTo>
                  <a:pt x="757200" y="3869"/>
                </a:lnTo>
                <a:lnTo>
                  <a:pt x="953058" y="3869"/>
                </a:lnTo>
                <a:lnTo>
                  <a:pt x="953058" y="21728"/>
                </a:lnTo>
                <a:close/>
              </a:path>
              <a:path w="1153160" h="280035">
                <a:moveTo>
                  <a:pt x="864654" y="275927"/>
                </a:moveTo>
                <a:lnTo>
                  <a:pt x="845455" y="275927"/>
                </a:lnTo>
                <a:lnTo>
                  <a:pt x="845455" y="21728"/>
                </a:lnTo>
                <a:lnTo>
                  <a:pt x="864654" y="21728"/>
                </a:lnTo>
                <a:lnTo>
                  <a:pt x="864654" y="275927"/>
                </a:lnTo>
                <a:close/>
              </a:path>
              <a:path w="1153160" h="280035">
                <a:moveTo>
                  <a:pt x="1152673" y="21728"/>
                </a:moveTo>
                <a:lnTo>
                  <a:pt x="956816" y="21728"/>
                </a:lnTo>
                <a:lnTo>
                  <a:pt x="956816" y="3869"/>
                </a:lnTo>
                <a:lnTo>
                  <a:pt x="1152673" y="3869"/>
                </a:lnTo>
                <a:lnTo>
                  <a:pt x="1152673" y="21728"/>
                </a:lnTo>
                <a:close/>
              </a:path>
              <a:path w="1153160" h="280035">
                <a:moveTo>
                  <a:pt x="1064269" y="275927"/>
                </a:moveTo>
                <a:lnTo>
                  <a:pt x="1045071" y="275927"/>
                </a:lnTo>
                <a:lnTo>
                  <a:pt x="1045071" y="21728"/>
                </a:lnTo>
                <a:lnTo>
                  <a:pt x="1064269" y="21728"/>
                </a:lnTo>
                <a:lnTo>
                  <a:pt x="1064269" y="27592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466662" y="3108222"/>
            <a:ext cx="916305" cy="186690"/>
          </a:xfrm>
          <a:custGeom>
            <a:avLst/>
            <a:gdLst/>
            <a:ahLst/>
            <a:cxnLst/>
            <a:rect l="l" t="t" r="r" b="b"/>
            <a:pathLst>
              <a:path w="916304" h="186689">
                <a:moveTo>
                  <a:pt x="10864" y="27830"/>
                </a:moveTo>
                <a:lnTo>
                  <a:pt x="41085" y="1488"/>
                </a:lnTo>
                <a:lnTo>
                  <a:pt x="54619" y="297"/>
                </a:lnTo>
                <a:lnTo>
                  <a:pt x="65819" y="1088"/>
                </a:lnTo>
                <a:lnTo>
                  <a:pt x="75753" y="3460"/>
                </a:lnTo>
                <a:lnTo>
                  <a:pt x="84422" y="7413"/>
                </a:lnTo>
                <a:lnTo>
                  <a:pt x="89835" y="11459"/>
                </a:lnTo>
                <a:lnTo>
                  <a:pt x="54322" y="11459"/>
                </a:lnTo>
                <a:lnTo>
                  <a:pt x="43122" y="12482"/>
                </a:lnTo>
                <a:lnTo>
                  <a:pt x="32146" y="15552"/>
                </a:lnTo>
                <a:lnTo>
                  <a:pt x="21394" y="20668"/>
                </a:lnTo>
                <a:lnTo>
                  <a:pt x="10864" y="27830"/>
                </a:lnTo>
                <a:close/>
              </a:path>
              <a:path w="916304" h="186689">
                <a:moveTo>
                  <a:pt x="113407" y="184100"/>
                </a:moveTo>
                <a:lnTo>
                  <a:pt x="0" y="184100"/>
                </a:lnTo>
                <a:lnTo>
                  <a:pt x="0" y="173235"/>
                </a:lnTo>
                <a:lnTo>
                  <a:pt x="57652" y="112904"/>
                </a:lnTo>
                <a:lnTo>
                  <a:pt x="65558" y="104254"/>
                </a:lnTo>
                <a:lnTo>
                  <a:pt x="88701" y="69353"/>
                </a:lnTo>
                <a:lnTo>
                  <a:pt x="91281" y="62507"/>
                </a:lnTo>
                <a:lnTo>
                  <a:pt x="92571" y="55364"/>
                </a:lnTo>
                <a:lnTo>
                  <a:pt x="92558" y="47773"/>
                </a:lnTo>
                <a:lnTo>
                  <a:pt x="91901" y="40192"/>
                </a:lnTo>
                <a:lnTo>
                  <a:pt x="62405" y="12092"/>
                </a:lnTo>
                <a:lnTo>
                  <a:pt x="54322" y="11459"/>
                </a:lnTo>
                <a:lnTo>
                  <a:pt x="89835" y="11459"/>
                </a:lnTo>
                <a:lnTo>
                  <a:pt x="105370" y="47773"/>
                </a:lnTo>
                <a:lnTo>
                  <a:pt x="104802" y="56638"/>
                </a:lnTo>
                <a:lnTo>
                  <a:pt x="83418" y="101240"/>
                </a:lnTo>
                <a:lnTo>
                  <a:pt x="16519" y="171747"/>
                </a:lnTo>
                <a:lnTo>
                  <a:pt x="16519" y="172194"/>
                </a:lnTo>
                <a:lnTo>
                  <a:pt x="113407" y="172194"/>
                </a:lnTo>
                <a:lnTo>
                  <a:pt x="113407" y="184100"/>
                </a:lnTo>
                <a:close/>
              </a:path>
              <a:path w="916304" h="186689">
                <a:moveTo>
                  <a:pt x="206541" y="186630"/>
                </a:moveTo>
                <a:lnTo>
                  <a:pt x="163083" y="165645"/>
                </a:lnTo>
                <a:lnTo>
                  <a:pt x="148154" y="124652"/>
                </a:lnTo>
                <a:lnTo>
                  <a:pt x="147261" y="103956"/>
                </a:lnTo>
                <a:lnTo>
                  <a:pt x="147754" y="89920"/>
                </a:lnTo>
                <a:lnTo>
                  <a:pt x="156684" y="47476"/>
                </a:lnTo>
                <a:lnTo>
                  <a:pt x="184068" y="11757"/>
                </a:lnTo>
                <a:lnTo>
                  <a:pt x="226633" y="0"/>
                </a:lnTo>
                <a:lnTo>
                  <a:pt x="234372" y="0"/>
                </a:lnTo>
                <a:lnTo>
                  <a:pt x="241466" y="942"/>
                </a:lnTo>
                <a:lnTo>
                  <a:pt x="247915" y="2827"/>
                </a:lnTo>
                <a:lnTo>
                  <a:pt x="247915" y="10417"/>
                </a:lnTo>
                <a:lnTo>
                  <a:pt x="226186" y="10417"/>
                </a:lnTo>
                <a:lnTo>
                  <a:pt x="211704" y="11803"/>
                </a:lnTo>
                <a:lnTo>
                  <a:pt x="178413" y="32593"/>
                </a:lnTo>
                <a:lnTo>
                  <a:pt x="161335" y="76934"/>
                </a:lnTo>
                <a:lnTo>
                  <a:pt x="159363" y="96738"/>
                </a:lnTo>
                <a:lnTo>
                  <a:pt x="171326" y="96738"/>
                </a:lnTo>
                <a:lnTo>
                  <a:pt x="167102" y="102691"/>
                </a:lnTo>
                <a:lnTo>
                  <a:pt x="162835" y="108842"/>
                </a:lnTo>
                <a:lnTo>
                  <a:pt x="160702" y="115143"/>
                </a:lnTo>
                <a:lnTo>
                  <a:pt x="160702" y="121592"/>
                </a:lnTo>
                <a:lnTo>
                  <a:pt x="173985" y="159432"/>
                </a:lnTo>
                <a:lnTo>
                  <a:pt x="198108" y="175617"/>
                </a:lnTo>
                <a:lnTo>
                  <a:pt x="241288" y="175617"/>
                </a:lnTo>
                <a:lnTo>
                  <a:pt x="238995" y="177589"/>
                </a:lnTo>
                <a:lnTo>
                  <a:pt x="229498" y="182612"/>
                </a:lnTo>
                <a:lnTo>
                  <a:pt x="218680" y="185625"/>
                </a:lnTo>
                <a:lnTo>
                  <a:pt x="206541" y="186630"/>
                </a:lnTo>
                <a:close/>
              </a:path>
              <a:path w="916304" h="186689">
                <a:moveTo>
                  <a:pt x="247915" y="13692"/>
                </a:moveTo>
                <a:lnTo>
                  <a:pt x="241962" y="11509"/>
                </a:lnTo>
                <a:lnTo>
                  <a:pt x="234719" y="10417"/>
                </a:lnTo>
                <a:lnTo>
                  <a:pt x="247915" y="10417"/>
                </a:lnTo>
                <a:lnTo>
                  <a:pt x="247915" y="13692"/>
                </a:lnTo>
                <a:close/>
              </a:path>
              <a:path w="916304" h="186689">
                <a:moveTo>
                  <a:pt x="171326" y="96738"/>
                </a:moveTo>
                <a:lnTo>
                  <a:pt x="161000" y="96738"/>
                </a:lnTo>
                <a:lnTo>
                  <a:pt x="165855" y="91017"/>
                </a:lnTo>
                <a:lnTo>
                  <a:pt x="201490" y="72572"/>
                </a:lnTo>
                <a:lnTo>
                  <a:pt x="208178" y="72181"/>
                </a:lnTo>
                <a:lnTo>
                  <a:pt x="220205" y="73093"/>
                </a:lnTo>
                <a:lnTo>
                  <a:pt x="230837" y="75827"/>
                </a:lnTo>
                <a:lnTo>
                  <a:pt x="240074" y="80385"/>
                </a:lnTo>
                <a:lnTo>
                  <a:pt x="242429" y="82301"/>
                </a:lnTo>
                <a:lnTo>
                  <a:pt x="199447" y="82301"/>
                </a:lnTo>
                <a:lnTo>
                  <a:pt x="191609" y="84187"/>
                </a:lnTo>
                <a:lnTo>
                  <a:pt x="177222" y="91628"/>
                </a:lnTo>
                <a:lnTo>
                  <a:pt x="171467" y="96539"/>
                </a:lnTo>
                <a:lnTo>
                  <a:pt x="171326" y="96738"/>
                </a:lnTo>
                <a:close/>
              </a:path>
              <a:path w="916304" h="186689">
                <a:moveTo>
                  <a:pt x="241288" y="175617"/>
                </a:moveTo>
                <a:lnTo>
                  <a:pt x="206541" y="175617"/>
                </a:lnTo>
                <a:lnTo>
                  <a:pt x="216159" y="174826"/>
                </a:lnTo>
                <a:lnTo>
                  <a:pt x="224624" y="172454"/>
                </a:lnTo>
                <a:lnTo>
                  <a:pt x="248697" y="137656"/>
                </a:lnTo>
                <a:lnTo>
                  <a:pt x="249404" y="126503"/>
                </a:lnTo>
                <a:lnTo>
                  <a:pt x="248706" y="116662"/>
                </a:lnTo>
                <a:lnTo>
                  <a:pt x="225070" y="85241"/>
                </a:lnTo>
                <a:lnTo>
                  <a:pt x="207881" y="82301"/>
                </a:lnTo>
                <a:lnTo>
                  <a:pt x="242429" y="82301"/>
                </a:lnTo>
                <a:lnTo>
                  <a:pt x="262203" y="126652"/>
                </a:lnTo>
                <a:lnTo>
                  <a:pt x="261263" y="139833"/>
                </a:lnTo>
                <a:lnTo>
                  <a:pt x="258445" y="151544"/>
                </a:lnTo>
                <a:lnTo>
                  <a:pt x="253748" y="161785"/>
                </a:lnTo>
                <a:lnTo>
                  <a:pt x="247171" y="170557"/>
                </a:lnTo>
                <a:lnTo>
                  <a:pt x="241288" y="175617"/>
                </a:lnTo>
                <a:close/>
              </a:path>
              <a:path w="916304" h="186689">
                <a:moveTo>
                  <a:pt x="312673" y="186630"/>
                </a:moveTo>
                <a:lnTo>
                  <a:pt x="299279" y="186630"/>
                </a:lnTo>
                <a:lnTo>
                  <a:pt x="295955" y="182562"/>
                </a:lnTo>
                <a:lnTo>
                  <a:pt x="295955" y="166290"/>
                </a:lnTo>
                <a:lnTo>
                  <a:pt x="299279" y="162222"/>
                </a:lnTo>
                <a:lnTo>
                  <a:pt x="312673" y="162222"/>
                </a:lnTo>
                <a:lnTo>
                  <a:pt x="316047" y="166290"/>
                </a:lnTo>
                <a:lnTo>
                  <a:pt x="316047" y="182562"/>
                </a:lnTo>
                <a:lnTo>
                  <a:pt x="312673" y="186630"/>
                </a:lnTo>
                <a:close/>
              </a:path>
              <a:path w="916304" h="186689">
                <a:moveTo>
                  <a:pt x="408421" y="186630"/>
                </a:moveTo>
                <a:lnTo>
                  <a:pt x="365260" y="162966"/>
                </a:lnTo>
                <a:lnTo>
                  <a:pt x="351447" y="114746"/>
                </a:lnTo>
                <a:lnTo>
                  <a:pt x="350527" y="93017"/>
                </a:lnTo>
                <a:lnTo>
                  <a:pt x="351419" y="70888"/>
                </a:lnTo>
                <a:lnTo>
                  <a:pt x="364844" y="22882"/>
                </a:lnTo>
                <a:lnTo>
                  <a:pt x="408421" y="0"/>
                </a:lnTo>
                <a:lnTo>
                  <a:pt x="421862" y="1478"/>
                </a:lnTo>
                <a:lnTo>
                  <a:pt x="433610" y="5915"/>
                </a:lnTo>
                <a:lnTo>
                  <a:pt x="440743" y="11162"/>
                </a:lnTo>
                <a:lnTo>
                  <a:pt x="408421" y="11162"/>
                </a:lnTo>
                <a:lnTo>
                  <a:pt x="397473" y="12464"/>
                </a:lnTo>
                <a:lnTo>
                  <a:pt x="369781" y="43625"/>
                </a:lnTo>
                <a:lnTo>
                  <a:pt x="363921" y="93017"/>
                </a:lnTo>
                <a:lnTo>
                  <a:pt x="364609" y="112709"/>
                </a:lnTo>
                <a:lnTo>
                  <a:pt x="374934" y="155376"/>
                </a:lnTo>
                <a:lnTo>
                  <a:pt x="408421" y="175468"/>
                </a:lnTo>
                <a:lnTo>
                  <a:pt x="441815" y="175468"/>
                </a:lnTo>
                <a:lnTo>
                  <a:pt x="434168" y="180900"/>
                </a:lnTo>
                <a:lnTo>
                  <a:pt x="422224" y="185198"/>
                </a:lnTo>
                <a:lnTo>
                  <a:pt x="408421" y="186630"/>
                </a:lnTo>
                <a:close/>
              </a:path>
              <a:path w="916304" h="186689">
                <a:moveTo>
                  <a:pt x="441815" y="175468"/>
                </a:moveTo>
                <a:lnTo>
                  <a:pt x="408421" y="175468"/>
                </a:lnTo>
                <a:lnTo>
                  <a:pt x="419313" y="174166"/>
                </a:lnTo>
                <a:lnTo>
                  <a:pt x="428624" y="170259"/>
                </a:lnTo>
                <a:lnTo>
                  <a:pt x="450539" y="128810"/>
                </a:lnTo>
                <a:lnTo>
                  <a:pt x="453218" y="93017"/>
                </a:lnTo>
                <a:lnTo>
                  <a:pt x="452548" y="74134"/>
                </a:lnTo>
                <a:lnTo>
                  <a:pt x="442502" y="31998"/>
                </a:lnTo>
                <a:lnTo>
                  <a:pt x="408421" y="11162"/>
                </a:lnTo>
                <a:lnTo>
                  <a:pt x="440743" y="11162"/>
                </a:lnTo>
                <a:lnTo>
                  <a:pt x="463301" y="52759"/>
                </a:lnTo>
                <a:lnTo>
                  <a:pt x="467059" y="93017"/>
                </a:lnTo>
                <a:lnTo>
                  <a:pt x="466147" y="115295"/>
                </a:lnTo>
                <a:lnTo>
                  <a:pt x="463413" y="134503"/>
                </a:lnTo>
                <a:lnTo>
                  <a:pt x="458855" y="150641"/>
                </a:lnTo>
                <a:lnTo>
                  <a:pt x="452443" y="163748"/>
                </a:lnTo>
                <a:lnTo>
                  <a:pt x="444251" y="173738"/>
                </a:lnTo>
                <a:lnTo>
                  <a:pt x="441815" y="175468"/>
                </a:lnTo>
                <a:close/>
              </a:path>
              <a:path w="916304" h="186689">
                <a:moveTo>
                  <a:pt x="512866" y="48517"/>
                </a:moveTo>
                <a:lnTo>
                  <a:pt x="505871" y="39737"/>
                </a:lnTo>
                <a:lnTo>
                  <a:pt x="554985" y="2827"/>
                </a:lnTo>
                <a:lnTo>
                  <a:pt x="565700" y="2827"/>
                </a:lnTo>
                <a:lnTo>
                  <a:pt x="565700" y="14733"/>
                </a:lnTo>
                <a:lnTo>
                  <a:pt x="554985" y="14733"/>
                </a:lnTo>
                <a:lnTo>
                  <a:pt x="553794" y="16023"/>
                </a:lnTo>
                <a:lnTo>
                  <a:pt x="552504" y="17264"/>
                </a:lnTo>
                <a:lnTo>
                  <a:pt x="551115" y="18454"/>
                </a:lnTo>
                <a:lnTo>
                  <a:pt x="547999" y="20947"/>
                </a:lnTo>
                <a:lnTo>
                  <a:pt x="512866" y="48517"/>
                </a:lnTo>
                <a:close/>
              </a:path>
              <a:path w="916304" h="186689">
                <a:moveTo>
                  <a:pt x="565700" y="184100"/>
                </a:moveTo>
                <a:lnTo>
                  <a:pt x="553496" y="184100"/>
                </a:lnTo>
                <a:lnTo>
                  <a:pt x="553589" y="43001"/>
                </a:lnTo>
                <a:lnTo>
                  <a:pt x="553868" y="33746"/>
                </a:lnTo>
                <a:lnTo>
                  <a:pt x="554333" y="24324"/>
                </a:lnTo>
                <a:lnTo>
                  <a:pt x="554985" y="14733"/>
                </a:lnTo>
                <a:lnTo>
                  <a:pt x="565700" y="14733"/>
                </a:lnTo>
                <a:lnTo>
                  <a:pt x="565700" y="184100"/>
                </a:lnTo>
                <a:close/>
              </a:path>
              <a:path w="916304" h="186689">
                <a:moveTo>
                  <a:pt x="662903" y="186630"/>
                </a:moveTo>
                <a:lnTo>
                  <a:pt x="649508" y="186630"/>
                </a:lnTo>
                <a:lnTo>
                  <a:pt x="646184" y="182562"/>
                </a:lnTo>
                <a:lnTo>
                  <a:pt x="646184" y="166290"/>
                </a:lnTo>
                <a:lnTo>
                  <a:pt x="649508" y="162222"/>
                </a:lnTo>
                <a:lnTo>
                  <a:pt x="662903" y="162222"/>
                </a:lnTo>
                <a:lnTo>
                  <a:pt x="666276" y="166290"/>
                </a:lnTo>
                <a:lnTo>
                  <a:pt x="666276" y="182562"/>
                </a:lnTo>
                <a:lnTo>
                  <a:pt x="662903" y="186630"/>
                </a:lnTo>
                <a:close/>
              </a:path>
              <a:path w="916304" h="186689">
                <a:moveTo>
                  <a:pt x="711323" y="27830"/>
                </a:moveTo>
                <a:lnTo>
                  <a:pt x="741544" y="1488"/>
                </a:lnTo>
                <a:lnTo>
                  <a:pt x="755078" y="297"/>
                </a:lnTo>
                <a:lnTo>
                  <a:pt x="766277" y="1088"/>
                </a:lnTo>
                <a:lnTo>
                  <a:pt x="776212" y="3460"/>
                </a:lnTo>
                <a:lnTo>
                  <a:pt x="784881" y="7413"/>
                </a:lnTo>
                <a:lnTo>
                  <a:pt x="790294" y="11459"/>
                </a:lnTo>
                <a:lnTo>
                  <a:pt x="754780" y="11459"/>
                </a:lnTo>
                <a:lnTo>
                  <a:pt x="743581" y="12482"/>
                </a:lnTo>
                <a:lnTo>
                  <a:pt x="732605" y="15552"/>
                </a:lnTo>
                <a:lnTo>
                  <a:pt x="721852" y="20668"/>
                </a:lnTo>
                <a:lnTo>
                  <a:pt x="711323" y="27830"/>
                </a:lnTo>
                <a:close/>
              </a:path>
              <a:path w="916304" h="186689">
                <a:moveTo>
                  <a:pt x="813865" y="184100"/>
                </a:moveTo>
                <a:lnTo>
                  <a:pt x="700458" y="184100"/>
                </a:lnTo>
                <a:lnTo>
                  <a:pt x="700458" y="173235"/>
                </a:lnTo>
                <a:lnTo>
                  <a:pt x="758111" y="112904"/>
                </a:lnTo>
                <a:lnTo>
                  <a:pt x="766017" y="104254"/>
                </a:lnTo>
                <a:lnTo>
                  <a:pt x="789160" y="69353"/>
                </a:lnTo>
                <a:lnTo>
                  <a:pt x="791740" y="62507"/>
                </a:lnTo>
                <a:lnTo>
                  <a:pt x="793029" y="55364"/>
                </a:lnTo>
                <a:lnTo>
                  <a:pt x="793016" y="47773"/>
                </a:lnTo>
                <a:lnTo>
                  <a:pt x="792360" y="40192"/>
                </a:lnTo>
                <a:lnTo>
                  <a:pt x="762864" y="12092"/>
                </a:lnTo>
                <a:lnTo>
                  <a:pt x="754780" y="11459"/>
                </a:lnTo>
                <a:lnTo>
                  <a:pt x="790294" y="11459"/>
                </a:lnTo>
                <a:lnTo>
                  <a:pt x="805829" y="47773"/>
                </a:lnTo>
                <a:lnTo>
                  <a:pt x="805261" y="56638"/>
                </a:lnTo>
                <a:lnTo>
                  <a:pt x="783876" y="101240"/>
                </a:lnTo>
                <a:lnTo>
                  <a:pt x="716978" y="171747"/>
                </a:lnTo>
                <a:lnTo>
                  <a:pt x="716978" y="172194"/>
                </a:lnTo>
                <a:lnTo>
                  <a:pt x="813865" y="172194"/>
                </a:lnTo>
                <a:lnTo>
                  <a:pt x="813865" y="184100"/>
                </a:lnTo>
                <a:close/>
              </a:path>
              <a:path w="916304" h="186689">
                <a:moveTo>
                  <a:pt x="863096" y="48517"/>
                </a:moveTo>
                <a:lnTo>
                  <a:pt x="856101" y="39737"/>
                </a:lnTo>
                <a:lnTo>
                  <a:pt x="905214" y="2827"/>
                </a:lnTo>
                <a:lnTo>
                  <a:pt x="915930" y="2827"/>
                </a:lnTo>
                <a:lnTo>
                  <a:pt x="915930" y="14733"/>
                </a:lnTo>
                <a:lnTo>
                  <a:pt x="905214" y="14733"/>
                </a:lnTo>
                <a:lnTo>
                  <a:pt x="904023" y="16023"/>
                </a:lnTo>
                <a:lnTo>
                  <a:pt x="902733" y="17264"/>
                </a:lnTo>
                <a:lnTo>
                  <a:pt x="901344" y="18454"/>
                </a:lnTo>
                <a:lnTo>
                  <a:pt x="898228" y="20947"/>
                </a:lnTo>
                <a:lnTo>
                  <a:pt x="863096" y="48517"/>
                </a:lnTo>
                <a:close/>
              </a:path>
              <a:path w="916304" h="186689">
                <a:moveTo>
                  <a:pt x="915930" y="184100"/>
                </a:moveTo>
                <a:lnTo>
                  <a:pt x="903726" y="184100"/>
                </a:lnTo>
                <a:lnTo>
                  <a:pt x="903819" y="43001"/>
                </a:lnTo>
                <a:lnTo>
                  <a:pt x="904098" y="33746"/>
                </a:lnTo>
                <a:lnTo>
                  <a:pt x="904563" y="24324"/>
                </a:lnTo>
                <a:lnTo>
                  <a:pt x="905214" y="14733"/>
                </a:lnTo>
                <a:lnTo>
                  <a:pt x="915930" y="14733"/>
                </a:lnTo>
                <a:lnTo>
                  <a:pt x="915930" y="1841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57242" y="757559"/>
            <a:ext cx="3196692" cy="1270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290200" y="4466502"/>
            <a:ext cx="2114550" cy="562610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 marR="37465">
              <a:lnSpc>
                <a:spcPts val="1050"/>
              </a:lnSpc>
              <a:spcBef>
                <a:spcPts val="160"/>
              </a:spcBef>
            </a:pPr>
            <a:r>
              <a:rPr sz="900" i="1" spc="-5" dirty="0">
                <a:latin typeface="Arial"/>
                <a:cs typeface="Arial"/>
              </a:rPr>
              <a:t>This page has been exposed 8439 times  1367 users have pushed</a:t>
            </a:r>
            <a:r>
              <a:rPr sz="900" i="1" spc="-20" dirty="0">
                <a:latin typeface="Arial"/>
                <a:cs typeface="Arial"/>
              </a:rPr>
              <a:t> </a:t>
            </a:r>
            <a:r>
              <a:rPr sz="900" i="1" spc="-5" dirty="0">
                <a:latin typeface="Arial"/>
                <a:cs typeface="Arial"/>
              </a:rPr>
              <a:t>NEI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ts val="1005"/>
              </a:lnSpc>
            </a:pPr>
            <a:r>
              <a:rPr sz="900" i="1" spc="-5" dirty="0">
                <a:latin typeface="Arial"/>
                <a:cs typeface="Arial"/>
              </a:rPr>
              <a:t>3531 users have pushed</a:t>
            </a:r>
            <a:r>
              <a:rPr sz="900" i="1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JA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ts val="1065"/>
              </a:lnSpc>
            </a:pPr>
            <a:r>
              <a:rPr sz="900" i="1" spc="-5" dirty="0">
                <a:latin typeface="Arial"/>
                <a:cs typeface="Arial"/>
              </a:rPr>
              <a:t>3541 users have either pushed NEI or</a:t>
            </a:r>
            <a:r>
              <a:rPr sz="900" i="1" spc="-6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JA</a:t>
            </a:r>
            <a:endParaRPr sz="9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6349" y="1412475"/>
            <a:ext cx="1532700" cy="29581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648600" y="1412475"/>
            <a:ext cx="1532700" cy="295816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112050" y="1412512"/>
            <a:ext cx="1532699" cy="295809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957200" y="4466502"/>
            <a:ext cx="2454910" cy="295910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 marR="5080">
              <a:lnSpc>
                <a:spcPts val="1050"/>
              </a:lnSpc>
              <a:spcBef>
                <a:spcPts val="160"/>
              </a:spcBef>
            </a:pPr>
            <a:r>
              <a:rPr sz="900" i="1" spc="-5" dirty="0">
                <a:latin typeface="Arial"/>
                <a:cs typeface="Arial"/>
              </a:rPr>
              <a:t>1097 users out of the 3531 that pushed </a:t>
            </a:r>
            <a:r>
              <a:rPr sz="900" i="1" dirty="0">
                <a:latin typeface="Arial"/>
                <a:cs typeface="Arial"/>
              </a:rPr>
              <a:t>JA </a:t>
            </a:r>
            <a:r>
              <a:rPr sz="900" i="1" spc="-5" dirty="0">
                <a:latin typeface="Arial"/>
                <a:cs typeface="Arial"/>
              </a:rPr>
              <a:t>have  </a:t>
            </a:r>
            <a:r>
              <a:rPr sz="900" i="1" dirty="0">
                <a:latin typeface="Arial"/>
                <a:cs typeface="Arial"/>
              </a:rPr>
              <a:t>completed </a:t>
            </a:r>
            <a:r>
              <a:rPr sz="900" i="1" spc="-5" dirty="0">
                <a:latin typeface="Arial"/>
                <a:cs typeface="Arial"/>
              </a:rPr>
              <a:t>the</a:t>
            </a:r>
            <a:r>
              <a:rPr sz="900" i="1" spc="-20" dirty="0">
                <a:latin typeface="Arial"/>
                <a:cs typeface="Arial"/>
              </a:rPr>
              <a:t> </a:t>
            </a:r>
            <a:r>
              <a:rPr sz="900" i="1" spc="-5" dirty="0">
                <a:latin typeface="Arial"/>
                <a:cs typeface="Arial"/>
              </a:rPr>
              <a:t>questionnaire</a:t>
            </a:r>
            <a:endParaRPr sz="9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935575" y="2940399"/>
            <a:ext cx="808990" cy="231140"/>
          </a:xfrm>
          <a:custGeom>
            <a:avLst/>
            <a:gdLst/>
            <a:ahLst/>
            <a:cxnLst/>
            <a:rect l="l" t="t" r="r" b="b"/>
            <a:pathLst>
              <a:path w="808989" h="231139">
                <a:moveTo>
                  <a:pt x="692999" y="230999"/>
                </a:moveTo>
                <a:lnTo>
                  <a:pt x="692999" y="173249"/>
                </a:lnTo>
                <a:lnTo>
                  <a:pt x="0" y="173249"/>
                </a:lnTo>
                <a:lnTo>
                  <a:pt x="0" y="57749"/>
                </a:lnTo>
                <a:lnTo>
                  <a:pt x="692999" y="57749"/>
                </a:lnTo>
                <a:lnTo>
                  <a:pt x="692999" y="0"/>
                </a:lnTo>
                <a:lnTo>
                  <a:pt x="808499" y="115499"/>
                </a:lnTo>
                <a:lnTo>
                  <a:pt x="692999" y="230999"/>
                </a:lnTo>
                <a:close/>
              </a:path>
            </a:pathLst>
          </a:custGeom>
          <a:solidFill>
            <a:srgbClr val="EEEE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935575" y="2940399"/>
            <a:ext cx="808990" cy="231140"/>
          </a:xfrm>
          <a:custGeom>
            <a:avLst/>
            <a:gdLst/>
            <a:ahLst/>
            <a:cxnLst/>
            <a:rect l="l" t="t" r="r" b="b"/>
            <a:pathLst>
              <a:path w="808989" h="231139">
                <a:moveTo>
                  <a:pt x="0" y="57749"/>
                </a:moveTo>
                <a:lnTo>
                  <a:pt x="692999" y="57749"/>
                </a:lnTo>
                <a:lnTo>
                  <a:pt x="692999" y="0"/>
                </a:lnTo>
                <a:lnTo>
                  <a:pt x="808499" y="115499"/>
                </a:lnTo>
                <a:lnTo>
                  <a:pt x="692999" y="230999"/>
                </a:lnTo>
                <a:lnTo>
                  <a:pt x="692999" y="173249"/>
                </a:lnTo>
                <a:lnTo>
                  <a:pt x="0" y="173249"/>
                </a:lnTo>
                <a:lnTo>
                  <a:pt x="0" y="57749"/>
                </a:lnTo>
                <a:close/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052299" y="2940399"/>
            <a:ext cx="764540" cy="231140"/>
          </a:xfrm>
          <a:custGeom>
            <a:avLst/>
            <a:gdLst/>
            <a:ahLst/>
            <a:cxnLst/>
            <a:rect l="l" t="t" r="r" b="b"/>
            <a:pathLst>
              <a:path w="764539" h="231139">
                <a:moveTo>
                  <a:pt x="115499" y="230999"/>
                </a:moveTo>
                <a:lnTo>
                  <a:pt x="0" y="115499"/>
                </a:lnTo>
                <a:lnTo>
                  <a:pt x="115499" y="0"/>
                </a:lnTo>
                <a:lnTo>
                  <a:pt x="115499" y="57749"/>
                </a:lnTo>
                <a:lnTo>
                  <a:pt x="764099" y="57749"/>
                </a:lnTo>
                <a:lnTo>
                  <a:pt x="764099" y="173249"/>
                </a:lnTo>
                <a:lnTo>
                  <a:pt x="115499" y="173249"/>
                </a:lnTo>
                <a:lnTo>
                  <a:pt x="115499" y="230999"/>
                </a:lnTo>
                <a:close/>
              </a:path>
            </a:pathLst>
          </a:custGeom>
          <a:solidFill>
            <a:srgbClr val="EEEE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052299" y="2940399"/>
            <a:ext cx="764540" cy="231140"/>
          </a:xfrm>
          <a:custGeom>
            <a:avLst/>
            <a:gdLst/>
            <a:ahLst/>
            <a:cxnLst/>
            <a:rect l="l" t="t" r="r" b="b"/>
            <a:pathLst>
              <a:path w="764539" h="231139">
                <a:moveTo>
                  <a:pt x="0" y="115499"/>
                </a:moveTo>
                <a:lnTo>
                  <a:pt x="115499" y="0"/>
                </a:lnTo>
                <a:lnTo>
                  <a:pt x="115499" y="57749"/>
                </a:lnTo>
                <a:lnTo>
                  <a:pt x="764099" y="57749"/>
                </a:lnTo>
                <a:lnTo>
                  <a:pt x="764099" y="173249"/>
                </a:lnTo>
                <a:lnTo>
                  <a:pt x="115499" y="173249"/>
                </a:lnTo>
                <a:lnTo>
                  <a:pt x="115499" y="230999"/>
                </a:lnTo>
                <a:lnTo>
                  <a:pt x="0" y="115499"/>
                </a:lnTo>
                <a:close/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26325" y="4466502"/>
            <a:ext cx="2684780" cy="562610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 marR="17780">
              <a:lnSpc>
                <a:spcPts val="1050"/>
              </a:lnSpc>
              <a:spcBef>
                <a:spcPts val="160"/>
              </a:spcBef>
            </a:pPr>
            <a:r>
              <a:rPr sz="900" i="1" spc="-5" dirty="0">
                <a:latin typeface="Arial"/>
                <a:cs typeface="Arial"/>
              </a:rPr>
              <a:t>From the 17th of December until the 14th of </a:t>
            </a:r>
            <a:r>
              <a:rPr sz="900" i="1" dirty="0">
                <a:latin typeface="Arial"/>
                <a:cs typeface="Arial"/>
              </a:rPr>
              <a:t>January  </a:t>
            </a:r>
            <a:r>
              <a:rPr sz="900" i="1" spc="-5" dirty="0">
                <a:latin typeface="Arial"/>
                <a:cs typeface="Arial"/>
              </a:rPr>
              <a:t>we </a:t>
            </a:r>
            <a:r>
              <a:rPr sz="900" i="1" dirty="0">
                <a:latin typeface="Arial"/>
                <a:cs typeface="Arial"/>
              </a:rPr>
              <a:t>conducted a </a:t>
            </a:r>
            <a:r>
              <a:rPr sz="900" i="1" spc="-5" dirty="0">
                <a:latin typeface="Arial"/>
                <a:cs typeface="Arial"/>
              </a:rPr>
              <a:t>fake door</a:t>
            </a:r>
            <a:r>
              <a:rPr sz="900" i="1" spc="-30" dirty="0">
                <a:latin typeface="Arial"/>
                <a:cs typeface="Arial"/>
              </a:rPr>
              <a:t> </a:t>
            </a:r>
            <a:r>
              <a:rPr sz="900" i="1" spc="-5" dirty="0">
                <a:latin typeface="Arial"/>
                <a:cs typeface="Arial"/>
              </a:rPr>
              <a:t>test:</a:t>
            </a:r>
            <a:endParaRPr sz="900">
              <a:latin typeface="Arial"/>
              <a:cs typeface="Arial"/>
            </a:endParaRPr>
          </a:p>
          <a:p>
            <a:pPr marL="12700" marR="5080">
              <a:lnSpc>
                <a:spcPts val="1050"/>
              </a:lnSpc>
            </a:pPr>
            <a:r>
              <a:rPr sz="900" i="1" spc="-5" dirty="0">
                <a:latin typeface="Arial"/>
                <a:cs typeface="Arial"/>
              </a:rPr>
              <a:t>Our end users that only have the </a:t>
            </a:r>
            <a:r>
              <a:rPr sz="900" i="1" dirty="0">
                <a:latin typeface="Arial"/>
                <a:cs typeface="Arial"/>
              </a:rPr>
              <a:t>salary module </a:t>
            </a:r>
            <a:r>
              <a:rPr sz="900" i="1" spc="-5" dirty="0">
                <a:latin typeface="Arial"/>
                <a:cs typeface="Arial"/>
              </a:rPr>
              <a:t>in  the app were exposed for </a:t>
            </a:r>
            <a:r>
              <a:rPr sz="900" i="1" dirty="0">
                <a:latin typeface="Arial"/>
                <a:cs typeface="Arial"/>
              </a:rPr>
              <a:t>a </a:t>
            </a:r>
            <a:r>
              <a:rPr sz="900" i="1" spc="-5" dirty="0">
                <a:latin typeface="Arial"/>
                <a:cs typeface="Arial"/>
              </a:rPr>
              <a:t>new icon </a:t>
            </a:r>
            <a:r>
              <a:rPr sz="900" i="1" dirty="0">
                <a:latin typeface="Arial"/>
                <a:cs typeface="Arial"/>
              </a:rPr>
              <a:t>- “Min</a:t>
            </a:r>
            <a:r>
              <a:rPr sz="900" i="1" spc="-80" dirty="0">
                <a:latin typeface="Arial"/>
                <a:cs typeface="Arial"/>
              </a:rPr>
              <a:t> </a:t>
            </a:r>
            <a:r>
              <a:rPr sz="900" i="1" spc="-5" dirty="0">
                <a:latin typeface="Arial"/>
                <a:cs typeface="Arial"/>
              </a:rPr>
              <a:t>pensjon”</a:t>
            </a:r>
            <a:endParaRPr sz="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08526" y="757559"/>
            <a:ext cx="3508947" cy="1650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476024" y="1995024"/>
            <a:ext cx="2459990" cy="1501775"/>
          </a:xfrm>
          <a:prstGeom prst="rect">
            <a:avLst/>
          </a:prstGeom>
          <a:ln w="9524">
            <a:solidFill>
              <a:srgbClr val="595959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 marL="128270" marR="143510">
              <a:lnSpc>
                <a:spcPct val="100000"/>
              </a:lnSpc>
              <a:spcBef>
                <a:spcPts val="800"/>
              </a:spcBef>
            </a:pPr>
            <a:r>
              <a:rPr sz="1000" i="1" spc="-5" dirty="0">
                <a:latin typeface="Arial"/>
                <a:cs typeface="Arial"/>
              </a:rPr>
              <a:t>As </a:t>
            </a:r>
            <a:r>
              <a:rPr sz="1000" i="1" dirty="0">
                <a:latin typeface="Arial"/>
                <a:cs typeface="Arial"/>
              </a:rPr>
              <a:t>much </a:t>
            </a:r>
            <a:r>
              <a:rPr sz="1000" i="1" spc="-5" dirty="0">
                <a:latin typeface="Arial"/>
                <a:cs typeface="Arial"/>
              </a:rPr>
              <a:t>as </a:t>
            </a:r>
            <a:r>
              <a:rPr sz="1000" b="1" i="1" spc="-5" dirty="0">
                <a:latin typeface="Arial"/>
                <a:cs typeface="Arial"/>
              </a:rPr>
              <a:t>41.9 </a:t>
            </a:r>
            <a:r>
              <a:rPr sz="1000" b="1" i="1" dirty="0">
                <a:latin typeface="Arial"/>
                <a:cs typeface="Arial"/>
              </a:rPr>
              <a:t>% </a:t>
            </a:r>
            <a:r>
              <a:rPr sz="1000" i="1" spc="-5" dirty="0">
                <a:latin typeface="Arial"/>
                <a:cs typeface="Arial"/>
              </a:rPr>
              <a:t>of the users do not  </a:t>
            </a:r>
            <a:r>
              <a:rPr sz="1000" i="1" dirty="0">
                <a:latin typeface="Arial"/>
                <a:cs typeface="Arial"/>
              </a:rPr>
              <a:t>know </a:t>
            </a:r>
            <a:r>
              <a:rPr sz="1000" i="1" spc="-5" dirty="0">
                <a:latin typeface="Arial"/>
                <a:cs typeface="Arial"/>
              </a:rPr>
              <a:t>which pension </a:t>
            </a:r>
            <a:r>
              <a:rPr sz="1000" i="1" dirty="0">
                <a:latin typeface="Arial"/>
                <a:cs typeface="Arial"/>
              </a:rPr>
              <a:t>vendor </a:t>
            </a:r>
            <a:r>
              <a:rPr sz="1000" i="1" spc="-5" dirty="0">
                <a:latin typeface="Arial"/>
                <a:cs typeface="Arial"/>
              </a:rPr>
              <a:t>that they  have, </a:t>
            </a:r>
            <a:r>
              <a:rPr sz="1000" i="1" dirty="0">
                <a:latin typeface="Arial"/>
                <a:cs typeface="Arial"/>
              </a:rPr>
              <a:t>showing </a:t>
            </a:r>
            <a:r>
              <a:rPr sz="1000" i="1" spc="-5" dirty="0">
                <a:latin typeface="Arial"/>
                <a:cs typeface="Arial"/>
              </a:rPr>
              <a:t>that there is </a:t>
            </a:r>
            <a:r>
              <a:rPr sz="1000" i="1" dirty="0">
                <a:latin typeface="Arial"/>
                <a:cs typeface="Arial"/>
              </a:rPr>
              <a:t>a </a:t>
            </a:r>
            <a:r>
              <a:rPr sz="1000" i="1" spc="-5" dirty="0">
                <a:latin typeface="Arial"/>
                <a:cs typeface="Arial"/>
              </a:rPr>
              <a:t>huge  information/attention gap amongst  </a:t>
            </a:r>
            <a:r>
              <a:rPr sz="1000" i="1" dirty="0">
                <a:latin typeface="Arial"/>
                <a:cs typeface="Arial"/>
              </a:rPr>
              <a:t>many customers regarding </a:t>
            </a:r>
            <a:r>
              <a:rPr sz="1000" i="1" spc="-5" dirty="0">
                <a:latin typeface="Arial"/>
                <a:cs typeface="Arial"/>
              </a:rPr>
              <a:t>their  pension</a:t>
            </a:r>
            <a:endParaRPr sz="10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69458" y="1654363"/>
            <a:ext cx="4304080" cy="202592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96900" y="4566770"/>
            <a:ext cx="7048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dirty="0">
                <a:latin typeface="Arial"/>
                <a:cs typeface="Arial"/>
              </a:rPr>
              <a:t>*</a:t>
            </a:r>
            <a:endParaRPr sz="9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95163" y="4596585"/>
            <a:ext cx="5945184" cy="28009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08526" y="757559"/>
            <a:ext cx="3508947" cy="1650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88388" y="1648549"/>
            <a:ext cx="3910285" cy="200062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431600" y="1987150"/>
            <a:ext cx="2459990" cy="1501775"/>
          </a:xfrm>
          <a:prstGeom prst="rect">
            <a:avLst/>
          </a:prstGeom>
          <a:ln w="9524">
            <a:solidFill>
              <a:srgbClr val="595959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 marL="172720" marR="107314">
              <a:lnSpc>
                <a:spcPct val="100000"/>
              </a:lnSpc>
              <a:spcBef>
                <a:spcPts val="860"/>
              </a:spcBef>
            </a:pPr>
            <a:r>
              <a:rPr sz="1000" i="1" spc="-5" dirty="0">
                <a:latin typeface="Arial"/>
                <a:cs typeface="Arial"/>
              </a:rPr>
              <a:t>Only 13.9 </a:t>
            </a:r>
            <a:r>
              <a:rPr sz="1000" i="1" dirty="0">
                <a:latin typeface="Arial"/>
                <a:cs typeface="Arial"/>
              </a:rPr>
              <a:t>% </a:t>
            </a:r>
            <a:r>
              <a:rPr sz="1000" i="1" spc="-5" dirty="0">
                <a:latin typeface="Arial"/>
                <a:cs typeface="Arial"/>
              </a:rPr>
              <a:t>feel that they have  overview over their own pension, while  as </a:t>
            </a:r>
            <a:r>
              <a:rPr sz="1000" i="1" dirty="0">
                <a:latin typeface="Arial"/>
                <a:cs typeface="Arial"/>
              </a:rPr>
              <a:t>much </a:t>
            </a:r>
            <a:r>
              <a:rPr sz="1000" i="1" spc="-5" dirty="0">
                <a:latin typeface="Arial"/>
                <a:cs typeface="Arial"/>
              </a:rPr>
              <a:t>as </a:t>
            </a:r>
            <a:r>
              <a:rPr sz="1000" b="1" i="1" spc="-5" dirty="0">
                <a:latin typeface="Arial"/>
                <a:cs typeface="Arial"/>
              </a:rPr>
              <a:t>61.5 </a:t>
            </a:r>
            <a:r>
              <a:rPr sz="1000" b="1" i="1" dirty="0">
                <a:latin typeface="Arial"/>
                <a:cs typeface="Arial"/>
              </a:rPr>
              <a:t>% </a:t>
            </a:r>
            <a:r>
              <a:rPr sz="1000" i="1" dirty="0">
                <a:latin typeface="Arial"/>
                <a:cs typeface="Arial"/>
              </a:rPr>
              <a:t>say </a:t>
            </a:r>
            <a:r>
              <a:rPr sz="1000" i="1" spc="-5" dirty="0">
                <a:latin typeface="Arial"/>
                <a:cs typeface="Arial"/>
              </a:rPr>
              <a:t>that they don’t  have </a:t>
            </a:r>
            <a:r>
              <a:rPr sz="1000" i="1" spc="-15" dirty="0">
                <a:latin typeface="Arial"/>
                <a:cs typeface="Arial"/>
              </a:rPr>
              <a:t>overview, </a:t>
            </a:r>
            <a:r>
              <a:rPr sz="1000" i="1" spc="-5" dirty="0">
                <a:latin typeface="Arial"/>
                <a:cs typeface="Arial"/>
              </a:rPr>
              <a:t>and 24.5 </a:t>
            </a:r>
            <a:r>
              <a:rPr sz="1000" i="1" dirty="0">
                <a:latin typeface="Arial"/>
                <a:cs typeface="Arial"/>
              </a:rPr>
              <a:t>% </a:t>
            </a:r>
            <a:r>
              <a:rPr sz="1000" i="1" spc="-5" dirty="0">
                <a:latin typeface="Arial"/>
                <a:cs typeface="Arial"/>
              </a:rPr>
              <a:t>only have  partial </a:t>
            </a:r>
            <a:r>
              <a:rPr sz="1000" i="1" spc="-15" dirty="0">
                <a:latin typeface="Arial"/>
                <a:cs typeface="Arial"/>
              </a:rPr>
              <a:t>overview, </a:t>
            </a:r>
            <a:r>
              <a:rPr sz="1000" i="1" dirty="0">
                <a:latin typeface="Arial"/>
                <a:cs typeface="Arial"/>
              </a:rPr>
              <a:t>confirming </a:t>
            </a:r>
            <a:r>
              <a:rPr sz="1000" i="1" spc="-5" dirty="0">
                <a:latin typeface="Arial"/>
                <a:cs typeface="Arial"/>
              </a:rPr>
              <a:t>the  information gap for</a:t>
            </a:r>
            <a:r>
              <a:rPr sz="1000" i="1" spc="-20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customers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08526" y="757559"/>
            <a:ext cx="3508947" cy="1650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94318" y="1660655"/>
            <a:ext cx="4782767" cy="197479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431600" y="1987150"/>
            <a:ext cx="2459990" cy="1501775"/>
          </a:xfrm>
          <a:prstGeom prst="rect">
            <a:avLst/>
          </a:prstGeom>
          <a:ln w="9524">
            <a:solidFill>
              <a:srgbClr val="595959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 marL="172720" marR="146050">
              <a:lnSpc>
                <a:spcPct val="100000"/>
              </a:lnSpc>
              <a:spcBef>
                <a:spcPts val="795"/>
              </a:spcBef>
            </a:pPr>
            <a:r>
              <a:rPr sz="1000" i="1" dirty="0">
                <a:latin typeface="Arial"/>
                <a:cs typeface="Arial"/>
              </a:rPr>
              <a:t>A </a:t>
            </a:r>
            <a:r>
              <a:rPr sz="1000" i="1" spc="-5" dirty="0">
                <a:latin typeface="Arial"/>
                <a:cs typeface="Arial"/>
              </a:rPr>
              <a:t>whopping </a:t>
            </a:r>
            <a:r>
              <a:rPr sz="1000" b="1" i="1" spc="-5" dirty="0">
                <a:latin typeface="Arial"/>
                <a:cs typeface="Arial"/>
              </a:rPr>
              <a:t>93.2 </a:t>
            </a:r>
            <a:r>
              <a:rPr sz="1000" b="1" i="1" dirty="0">
                <a:latin typeface="Arial"/>
                <a:cs typeface="Arial"/>
              </a:rPr>
              <a:t>% </a:t>
            </a:r>
            <a:r>
              <a:rPr sz="1000" i="1" spc="-5" dirty="0">
                <a:latin typeface="Arial"/>
                <a:cs typeface="Arial"/>
              </a:rPr>
              <a:t>would like to have  full overview over their pension  </a:t>
            </a:r>
            <a:r>
              <a:rPr sz="1000" i="1" dirty="0">
                <a:latin typeface="Arial"/>
                <a:cs typeface="Arial"/>
              </a:rPr>
              <a:t>schemes </a:t>
            </a:r>
            <a:r>
              <a:rPr sz="1000" i="1" spc="-5" dirty="0">
                <a:latin typeface="Arial"/>
                <a:cs typeface="Arial"/>
              </a:rPr>
              <a:t>inside the </a:t>
            </a:r>
            <a:r>
              <a:rPr sz="1000" i="1" spc="-10" dirty="0">
                <a:latin typeface="Arial"/>
                <a:cs typeface="Arial"/>
              </a:rPr>
              <a:t>Tripletex</a:t>
            </a:r>
            <a:r>
              <a:rPr sz="1000" i="1" spc="-35" dirty="0">
                <a:latin typeface="Arial"/>
                <a:cs typeface="Arial"/>
              </a:rPr>
              <a:t> </a:t>
            </a:r>
            <a:r>
              <a:rPr sz="1000" i="1" spc="-5" dirty="0">
                <a:latin typeface="Arial"/>
                <a:cs typeface="Arial"/>
              </a:rPr>
              <a:t>app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2165" y="1066625"/>
            <a:ext cx="8301604" cy="284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01271" y="1629758"/>
            <a:ext cx="2822326" cy="13379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01271" y="1972658"/>
            <a:ext cx="3151549" cy="13379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87830" y="2210634"/>
            <a:ext cx="29845" cy="5080"/>
          </a:xfrm>
          <a:custGeom>
            <a:avLst/>
            <a:gdLst/>
            <a:ahLst/>
            <a:cxnLst/>
            <a:rect l="l" t="t" r="r" b="b"/>
            <a:pathLst>
              <a:path w="29844" h="5080">
                <a:moveTo>
                  <a:pt x="0" y="5060"/>
                </a:moveTo>
                <a:lnTo>
                  <a:pt x="0" y="0"/>
                </a:lnTo>
                <a:lnTo>
                  <a:pt x="29467" y="0"/>
                </a:lnTo>
                <a:lnTo>
                  <a:pt x="29467" y="5060"/>
                </a:lnTo>
                <a:lnTo>
                  <a:pt x="0" y="50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064424" y="2144108"/>
            <a:ext cx="2583291" cy="13379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87830" y="2382084"/>
            <a:ext cx="29845" cy="5080"/>
          </a:xfrm>
          <a:custGeom>
            <a:avLst/>
            <a:gdLst/>
            <a:ahLst/>
            <a:cxnLst/>
            <a:rect l="l" t="t" r="r" b="b"/>
            <a:pathLst>
              <a:path w="29844" h="5080">
                <a:moveTo>
                  <a:pt x="0" y="5060"/>
                </a:moveTo>
                <a:lnTo>
                  <a:pt x="0" y="0"/>
                </a:lnTo>
                <a:lnTo>
                  <a:pt x="29467" y="0"/>
                </a:lnTo>
                <a:lnTo>
                  <a:pt x="29467" y="5060"/>
                </a:lnTo>
                <a:lnTo>
                  <a:pt x="0" y="50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064424" y="2322404"/>
            <a:ext cx="1286655" cy="12695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87830" y="2553534"/>
            <a:ext cx="29845" cy="5080"/>
          </a:xfrm>
          <a:custGeom>
            <a:avLst/>
            <a:gdLst/>
            <a:ahLst/>
            <a:cxnLst/>
            <a:rect l="l" t="t" r="r" b="b"/>
            <a:pathLst>
              <a:path w="29844" h="5080">
                <a:moveTo>
                  <a:pt x="0" y="5060"/>
                </a:moveTo>
                <a:lnTo>
                  <a:pt x="0" y="0"/>
                </a:lnTo>
                <a:lnTo>
                  <a:pt x="29467" y="0"/>
                </a:lnTo>
                <a:lnTo>
                  <a:pt x="29467" y="5060"/>
                </a:lnTo>
                <a:lnTo>
                  <a:pt x="0" y="50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064424" y="2493854"/>
            <a:ext cx="1810501" cy="12695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87830" y="2724984"/>
            <a:ext cx="29845" cy="5080"/>
          </a:xfrm>
          <a:custGeom>
            <a:avLst/>
            <a:gdLst/>
            <a:ahLst/>
            <a:cxnLst/>
            <a:rect l="l" t="t" r="r" b="b"/>
            <a:pathLst>
              <a:path w="29844" h="5080">
                <a:moveTo>
                  <a:pt x="0" y="5060"/>
                </a:moveTo>
                <a:lnTo>
                  <a:pt x="0" y="0"/>
                </a:lnTo>
                <a:lnTo>
                  <a:pt x="29467" y="0"/>
                </a:lnTo>
                <a:lnTo>
                  <a:pt x="29467" y="5060"/>
                </a:lnTo>
                <a:lnTo>
                  <a:pt x="0" y="50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064424" y="2658458"/>
            <a:ext cx="1358029" cy="13379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87830" y="2896434"/>
            <a:ext cx="29845" cy="5080"/>
          </a:xfrm>
          <a:custGeom>
            <a:avLst/>
            <a:gdLst/>
            <a:ahLst/>
            <a:cxnLst/>
            <a:rect l="l" t="t" r="r" b="b"/>
            <a:pathLst>
              <a:path w="29844" h="5080">
                <a:moveTo>
                  <a:pt x="0" y="5060"/>
                </a:moveTo>
                <a:lnTo>
                  <a:pt x="0" y="0"/>
                </a:lnTo>
                <a:lnTo>
                  <a:pt x="29467" y="0"/>
                </a:lnTo>
                <a:lnTo>
                  <a:pt x="29467" y="5060"/>
                </a:lnTo>
                <a:lnTo>
                  <a:pt x="0" y="50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051625" y="2829908"/>
            <a:ext cx="1627711" cy="133796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87830" y="3067884"/>
            <a:ext cx="29845" cy="5080"/>
          </a:xfrm>
          <a:custGeom>
            <a:avLst/>
            <a:gdLst/>
            <a:ahLst/>
            <a:cxnLst/>
            <a:rect l="l" t="t" r="r" b="b"/>
            <a:pathLst>
              <a:path w="29844" h="5080">
                <a:moveTo>
                  <a:pt x="0" y="5060"/>
                </a:moveTo>
                <a:lnTo>
                  <a:pt x="0" y="0"/>
                </a:lnTo>
                <a:lnTo>
                  <a:pt x="29467" y="0"/>
                </a:lnTo>
                <a:lnTo>
                  <a:pt x="29467" y="5060"/>
                </a:lnTo>
                <a:lnTo>
                  <a:pt x="0" y="50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051625" y="3008204"/>
            <a:ext cx="1972504" cy="12695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07224" y="3351104"/>
            <a:ext cx="1650148" cy="126950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07224" y="3522554"/>
            <a:ext cx="1307337" cy="126950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607224" y="3693260"/>
            <a:ext cx="1812163" cy="127694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594425" y="3865454"/>
            <a:ext cx="1725236" cy="126950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586353" y="757559"/>
            <a:ext cx="5757630" cy="165050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740974" y="1213274"/>
            <a:ext cx="0" cy="3544570"/>
          </a:xfrm>
          <a:custGeom>
            <a:avLst/>
            <a:gdLst/>
            <a:ahLst/>
            <a:cxnLst/>
            <a:rect l="l" t="t" r="r" b="b"/>
            <a:pathLst>
              <a:path h="3544570">
                <a:moveTo>
                  <a:pt x="0" y="0"/>
                </a:moveTo>
                <a:lnTo>
                  <a:pt x="0" y="3544499"/>
                </a:lnTo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5014620" y="1629758"/>
            <a:ext cx="3757073" cy="133796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5021466" y="1808054"/>
            <a:ext cx="2041370" cy="126950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5020871" y="2487008"/>
            <a:ext cx="1800195" cy="133796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5014024" y="2321660"/>
            <a:ext cx="1710000" cy="127694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5026824" y="2665304"/>
            <a:ext cx="2152549" cy="126950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5026824" y="3008204"/>
            <a:ext cx="1730342" cy="126950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5020871" y="3179654"/>
            <a:ext cx="1352268" cy="97631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5026824" y="3350360"/>
            <a:ext cx="1485663" cy="127694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7675274" y="2121774"/>
            <a:ext cx="1053374" cy="2179799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8142247" y="12675"/>
            <a:ext cx="987900" cy="489900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8199397" y="50775"/>
            <a:ext cx="873760" cy="375920"/>
          </a:xfrm>
          <a:custGeom>
            <a:avLst/>
            <a:gdLst/>
            <a:ahLst/>
            <a:cxnLst/>
            <a:rect l="l" t="t" r="r" b="b"/>
            <a:pathLst>
              <a:path w="873759" h="375920">
                <a:moveTo>
                  <a:pt x="0" y="0"/>
                </a:moveTo>
                <a:lnTo>
                  <a:pt x="873599" y="0"/>
                </a:lnTo>
                <a:lnTo>
                  <a:pt x="873599" y="375599"/>
                </a:lnTo>
                <a:lnTo>
                  <a:pt x="0" y="375599"/>
                </a:lnTo>
                <a:lnTo>
                  <a:pt x="0" y="0"/>
                </a:lnTo>
                <a:close/>
              </a:path>
            </a:pathLst>
          </a:custGeom>
          <a:solidFill>
            <a:srgbClr val="218F91">
              <a:alpha val="2787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8514081" y="154628"/>
            <a:ext cx="24447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35" dirty="0">
                <a:solidFill>
                  <a:srgbClr val="FFFFFF"/>
                </a:solidFill>
                <a:latin typeface="Trebuchet MS"/>
                <a:cs typeface="Trebuchet MS"/>
              </a:rPr>
              <a:t>B2B</a:t>
            </a:r>
            <a:endParaRPr sz="9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2165" y="1066625"/>
            <a:ext cx="8301604" cy="284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01866" y="1808054"/>
            <a:ext cx="3877811" cy="1269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94425" y="1636604"/>
            <a:ext cx="3895929" cy="1269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99485" y="1972658"/>
            <a:ext cx="3834679" cy="13379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96210" y="2150210"/>
            <a:ext cx="1920211" cy="12769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95020" y="2493854"/>
            <a:ext cx="3916901" cy="101203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740974" y="1213274"/>
            <a:ext cx="0" cy="3544570"/>
          </a:xfrm>
          <a:custGeom>
            <a:avLst/>
            <a:gdLst/>
            <a:ahLst/>
            <a:cxnLst/>
            <a:rect l="l" t="t" r="r" b="b"/>
            <a:pathLst>
              <a:path h="3544570">
                <a:moveTo>
                  <a:pt x="0" y="0"/>
                </a:moveTo>
                <a:lnTo>
                  <a:pt x="0" y="3544499"/>
                </a:lnTo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873495" y="1655208"/>
            <a:ext cx="3371549" cy="13379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884211" y="1826658"/>
            <a:ext cx="3333982" cy="133796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872900" y="2347110"/>
            <a:ext cx="2286710" cy="127694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880341" y="2512458"/>
            <a:ext cx="2028236" cy="133796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874388" y="2690754"/>
            <a:ext cx="1755671" cy="126950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885699" y="3026808"/>
            <a:ext cx="2419333" cy="133796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884211" y="3205104"/>
            <a:ext cx="2548454" cy="126950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877960" y="3376554"/>
            <a:ext cx="1781568" cy="126950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885699" y="3718710"/>
            <a:ext cx="2628179" cy="127694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580137" y="4023062"/>
            <a:ext cx="1037924" cy="1003724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877606" y="4199106"/>
            <a:ext cx="426084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b="1" spc="30" dirty="0">
                <a:latin typeface="Trebuchet MS"/>
                <a:cs typeface="Trebuchet MS"/>
              </a:rPr>
              <a:t>Holdning</a:t>
            </a:r>
            <a:endParaRPr sz="700">
              <a:latin typeface="Trebuchet MS"/>
              <a:cs typeface="Trebuchet MS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959251" y="4023062"/>
            <a:ext cx="1037924" cy="1003724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2210669" y="4194344"/>
            <a:ext cx="447675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b="1" spc="20" dirty="0">
                <a:latin typeface="Trebuchet MS"/>
                <a:cs typeface="Trebuchet MS"/>
              </a:rPr>
              <a:t>Intensjon</a:t>
            </a:r>
            <a:endParaRPr sz="700">
              <a:latin typeface="Trebuchet MS"/>
              <a:cs typeface="Trebuchet MS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3302072" y="4023062"/>
            <a:ext cx="1037924" cy="1003724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3666664" y="4199106"/>
            <a:ext cx="307975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b="1" spc="15" dirty="0">
                <a:latin typeface="Trebuchet MS"/>
                <a:cs typeface="Trebuchet MS"/>
              </a:rPr>
              <a:t>Atferd</a:t>
            </a:r>
            <a:endParaRPr sz="700">
              <a:latin typeface="Trebuchet MS"/>
              <a:cs typeface="Trebuchet MS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7930100" y="2188536"/>
            <a:ext cx="914199" cy="1843524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586353" y="757559"/>
            <a:ext cx="5800506" cy="165050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8142247" y="12675"/>
            <a:ext cx="987900" cy="489900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8199397" y="50775"/>
            <a:ext cx="873760" cy="375920"/>
          </a:xfrm>
          <a:custGeom>
            <a:avLst/>
            <a:gdLst/>
            <a:ahLst/>
            <a:cxnLst/>
            <a:rect l="l" t="t" r="r" b="b"/>
            <a:pathLst>
              <a:path w="873759" h="375920">
                <a:moveTo>
                  <a:pt x="0" y="0"/>
                </a:moveTo>
                <a:lnTo>
                  <a:pt x="873599" y="0"/>
                </a:lnTo>
                <a:lnTo>
                  <a:pt x="873599" y="375599"/>
                </a:lnTo>
                <a:lnTo>
                  <a:pt x="0" y="375599"/>
                </a:lnTo>
                <a:lnTo>
                  <a:pt x="0" y="0"/>
                </a:lnTo>
                <a:close/>
              </a:path>
            </a:pathLst>
          </a:custGeom>
          <a:solidFill>
            <a:srgbClr val="218F91">
              <a:alpha val="2787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8445043" y="154628"/>
            <a:ext cx="38227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20" dirty="0">
                <a:solidFill>
                  <a:srgbClr val="FFFFFF"/>
                </a:solidFill>
                <a:latin typeface="Trebuchet MS"/>
                <a:cs typeface="Trebuchet MS"/>
              </a:rPr>
              <a:t>B2B2C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504974" y="4813300"/>
            <a:ext cx="292100" cy="2406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7500"/>
              </a:lnSpc>
              <a:spcBef>
                <a:spcPts val="100"/>
              </a:spcBef>
            </a:pPr>
            <a:r>
              <a:rPr sz="600" dirty="0">
                <a:latin typeface="Arial"/>
                <a:cs typeface="Arial"/>
              </a:rPr>
              <a:t>“Alle”</a:t>
            </a:r>
            <a:r>
              <a:rPr sz="600" spc="-95" dirty="0">
                <a:latin typeface="Arial"/>
                <a:cs typeface="Arial"/>
              </a:rPr>
              <a:t> </a:t>
            </a:r>
            <a:r>
              <a:rPr sz="600" spc="-5" dirty="0">
                <a:latin typeface="Arial"/>
                <a:cs typeface="Arial"/>
              </a:rPr>
              <a:t>er  her</a:t>
            </a:r>
            <a:endParaRPr sz="6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863000" y="4813300"/>
            <a:ext cx="258445" cy="2406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7500"/>
              </a:lnSpc>
              <a:spcBef>
                <a:spcPts val="100"/>
              </a:spcBef>
            </a:pPr>
            <a:r>
              <a:rPr sz="600" dirty="0">
                <a:latin typeface="Arial"/>
                <a:cs typeface="Arial"/>
              </a:rPr>
              <a:t>Mange  </a:t>
            </a:r>
            <a:r>
              <a:rPr sz="600" spc="-5" dirty="0">
                <a:latin typeface="Arial"/>
                <a:cs typeface="Arial"/>
              </a:rPr>
              <a:t>er</a:t>
            </a:r>
            <a:r>
              <a:rPr sz="600" spc="-40" dirty="0">
                <a:latin typeface="Arial"/>
                <a:cs typeface="Arial"/>
              </a:rPr>
              <a:t> </a:t>
            </a:r>
            <a:r>
              <a:rPr sz="600" spc="-5" dirty="0">
                <a:latin typeface="Arial"/>
                <a:cs typeface="Arial"/>
              </a:rPr>
              <a:t>her</a:t>
            </a:r>
            <a:endParaRPr sz="6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208450" y="4813300"/>
            <a:ext cx="402590" cy="2406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7500"/>
              </a:lnSpc>
              <a:spcBef>
                <a:spcPts val="100"/>
              </a:spcBef>
            </a:pPr>
            <a:r>
              <a:rPr sz="600" spc="-5" dirty="0">
                <a:latin typeface="Arial"/>
                <a:cs typeface="Arial"/>
              </a:rPr>
              <a:t>Relativ få  </a:t>
            </a:r>
            <a:r>
              <a:rPr sz="600" dirty="0">
                <a:latin typeface="Arial"/>
                <a:cs typeface="Arial"/>
              </a:rPr>
              <a:t>kommer</a:t>
            </a:r>
            <a:r>
              <a:rPr sz="600" spc="-90" dirty="0">
                <a:latin typeface="Arial"/>
                <a:cs typeface="Arial"/>
              </a:rPr>
              <a:t> </a:t>
            </a:r>
            <a:r>
              <a:rPr sz="600" spc="-5" dirty="0">
                <a:latin typeface="Arial"/>
                <a:cs typeface="Arial"/>
              </a:rPr>
              <a:t>hit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46638" y="756666"/>
            <a:ext cx="2727107" cy="12799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147774" y="1154825"/>
            <a:ext cx="1002600" cy="204320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433636" y="1154832"/>
            <a:ext cx="1002600" cy="204319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97200" y="1154825"/>
            <a:ext cx="1002600" cy="204321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745124" y="1154840"/>
            <a:ext cx="1002600" cy="204320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071175" y="12675"/>
            <a:ext cx="1059000" cy="4899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128324" y="50774"/>
            <a:ext cx="944880" cy="375920"/>
          </a:xfrm>
          <a:custGeom>
            <a:avLst/>
            <a:gdLst/>
            <a:ahLst/>
            <a:cxnLst/>
            <a:rect l="l" t="t" r="r" b="b"/>
            <a:pathLst>
              <a:path w="944879" h="375920">
                <a:moveTo>
                  <a:pt x="0" y="0"/>
                </a:moveTo>
                <a:lnTo>
                  <a:pt x="944699" y="0"/>
                </a:lnTo>
                <a:lnTo>
                  <a:pt x="944699" y="375599"/>
                </a:lnTo>
                <a:lnTo>
                  <a:pt x="0" y="375599"/>
                </a:lnTo>
                <a:lnTo>
                  <a:pt x="0" y="0"/>
                </a:lnTo>
                <a:close/>
              </a:path>
            </a:pathLst>
          </a:custGeom>
          <a:solidFill>
            <a:srgbClr val="218F91">
              <a:alpha val="2787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8237792" y="154628"/>
            <a:ext cx="7245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35" dirty="0">
                <a:solidFill>
                  <a:srgbClr val="FFFFFF"/>
                </a:solidFill>
                <a:latin typeface="Trebuchet MS"/>
                <a:cs typeface="Trebuchet MS"/>
              </a:rPr>
              <a:t>B2B </a:t>
            </a:r>
            <a:r>
              <a:rPr sz="900" b="1" spc="-15" dirty="0">
                <a:solidFill>
                  <a:srgbClr val="FFFFFF"/>
                </a:solidFill>
                <a:latin typeface="Trebuchet MS"/>
                <a:cs typeface="Trebuchet MS"/>
              </a:rPr>
              <a:t>+</a:t>
            </a:r>
            <a:r>
              <a:rPr sz="900" b="1" spc="-1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b="1" spc="20" dirty="0">
                <a:solidFill>
                  <a:srgbClr val="FFFFFF"/>
                </a:solidFill>
                <a:latin typeface="Trebuchet MS"/>
                <a:cs typeface="Trebuchet MS"/>
              </a:rPr>
              <a:t>B2B2C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91200" y="4881520"/>
            <a:ext cx="545655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i="1" spc="-5" dirty="0">
                <a:latin typeface="Arial"/>
                <a:cs typeface="Arial"/>
              </a:rPr>
              <a:t>*Please note that is just initial thoughts </a:t>
            </a:r>
            <a:r>
              <a:rPr sz="800" i="1" dirty="0">
                <a:latin typeface="Arial"/>
                <a:cs typeface="Arial"/>
              </a:rPr>
              <a:t>- customers </a:t>
            </a:r>
            <a:r>
              <a:rPr sz="800" i="1" spc="-5" dirty="0">
                <a:latin typeface="Arial"/>
                <a:cs typeface="Arial"/>
              </a:rPr>
              <a:t>tests and iterations ought to be done and is </a:t>
            </a:r>
            <a:r>
              <a:rPr sz="800" i="1" dirty="0">
                <a:latin typeface="Arial"/>
                <a:cs typeface="Arial"/>
              </a:rPr>
              <a:t>a </a:t>
            </a:r>
            <a:r>
              <a:rPr sz="800" i="1" spc="-5" dirty="0">
                <a:latin typeface="Arial"/>
                <a:cs typeface="Arial"/>
              </a:rPr>
              <a:t>natural part of this</a:t>
            </a:r>
            <a:r>
              <a:rPr sz="800" i="1" spc="-20" dirty="0">
                <a:latin typeface="Arial"/>
                <a:cs typeface="Arial"/>
              </a:rPr>
              <a:t> </a:t>
            </a:r>
            <a:r>
              <a:rPr sz="800" i="1" dirty="0">
                <a:latin typeface="Arial"/>
                <a:cs typeface="Arial"/>
              </a:rPr>
              <a:t>case</a:t>
            </a:r>
            <a:endParaRPr sz="8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196800" y="1982500"/>
            <a:ext cx="1002600" cy="202179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428094" y="2543535"/>
            <a:ext cx="88900" cy="93980"/>
          </a:xfrm>
          <a:custGeom>
            <a:avLst/>
            <a:gdLst/>
            <a:ahLst/>
            <a:cxnLst/>
            <a:rect l="l" t="t" r="r" b="b"/>
            <a:pathLst>
              <a:path w="88900" h="93980">
                <a:moveTo>
                  <a:pt x="88341" y="93843"/>
                </a:moveTo>
                <a:lnTo>
                  <a:pt x="0" y="93843"/>
                </a:lnTo>
                <a:lnTo>
                  <a:pt x="0" y="0"/>
                </a:lnTo>
                <a:lnTo>
                  <a:pt x="88341" y="0"/>
                </a:lnTo>
                <a:lnTo>
                  <a:pt x="88341" y="93843"/>
                </a:lnTo>
                <a:close/>
              </a:path>
            </a:pathLst>
          </a:custGeom>
          <a:solidFill>
            <a:srgbClr val="EEEE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314408" y="2637379"/>
            <a:ext cx="316230" cy="88900"/>
          </a:xfrm>
          <a:custGeom>
            <a:avLst/>
            <a:gdLst/>
            <a:ahLst/>
            <a:cxnLst/>
            <a:rect l="l" t="t" r="r" b="b"/>
            <a:pathLst>
              <a:path w="316229" h="88900">
                <a:moveTo>
                  <a:pt x="315713" y="88340"/>
                </a:moveTo>
                <a:lnTo>
                  <a:pt x="0" y="88340"/>
                </a:lnTo>
                <a:lnTo>
                  <a:pt x="0" y="0"/>
                </a:lnTo>
                <a:lnTo>
                  <a:pt x="315713" y="0"/>
                </a:lnTo>
                <a:lnTo>
                  <a:pt x="315713" y="88340"/>
                </a:lnTo>
                <a:close/>
              </a:path>
            </a:pathLst>
          </a:custGeom>
          <a:solidFill>
            <a:srgbClr val="EEEE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428094" y="2725720"/>
            <a:ext cx="88900" cy="93980"/>
          </a:xfrm>
          <a:custGeom>
            <a:avLst/>
            <a:gdLst/>
            <a:ahLst/>
            <a:cxnLst/>
            <a:rect l="l" t="t" r="r" b="b"/>
            <a:pathLst>
              <a:path w="88900" h="93980">
                <a:moveTo>
                  <a:pt x="88341" y="93843"/>
                </a:moveTo>
                <a:lnTo>
                  <a:pt x="0" y="93843"/>
                </a:lnTo>
                <a:lnTo>
                  <a:pt x="0" y="0"/>
                </a:lnTo>
                <a:lnTo>
                  <a:pt x="88341" y="0"/>
                </a:lnTo>
                <a:lnTo>
                  <a:pt x="88341" y="93843"/>
                </a:lnTo>
                <a:close/>
              </a:path>
            </a:pathLst>
          </a:custGeom>
          <a:solidFill>
            <a:srgbClr val="EEEE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314408" y="2543535"/>
            <a:ext cx="316230" cy="276225"/>
          </a:xfrm>
          <a:custGeom>
            <a:avLst/>
            <a:gdLst/>
            <a:ahLst/>
            <a:cxnLst/>
            <a:rect l="l" t="t" r="r" b="b"/>
            <a:pathLst>
              <a:path w="316229" h="276225">
                <a:moveTo>
                  <a:pt x="0" y="93843"/>
                </a:moveTo>
                <a:lnTo>
                  <a:pt x="113685" y="93843"/>
                </a:lnTo>
                <a:lnTo>
                  <a:pt x="113685" y="0"/>
                </a:lnTo>
                <a:lnTo>
                  <a:pt x="202027" y="0"/>
                </a:lnTo>
                <a:lnTo>
                  <a:pt x="202027" y="93843"/>
                </a:lnTo>
                <a:lnTo>
                  <a:pt x="315713" y="93843"/>
                </a:lnTo>
                <a:lnTo>
                  <a:pt x="315713" y="182184"/>
                </a:lnTo>
                <a:lnTo>
                  <a:pt x="202027" y="182184"/>
                </a:lnTo>
                <a:lnTo>
                  <a:pt x="202027" y="276028"/>
                </a:lnTo>
                <a:lnTo>
                  <a:pt x="113685" y="276028"/>
                </a:lnTo>
                <a:lnTo>
                  <a:pt x="113685" y="182184"/>
                </a:lnTo>
                <a:lnTo>
                  <a:pt x="0" y="182184"/>
                </a:lnTo>
                <a:lnTo>
                  <a:pt x="0" y="93843"/>
                </a:lnTo>
                <a:close/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982874" y="3652420"/>
            <a:ext cx="548132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15" dirty="0">
                <a:latin typeface="Arial"/>
                <a:cs typeface="Arial"/>
              </a:rPr>
              <a:t>Verdiforslag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spc="-15" dirty="0">
                <a:latin typeface="Arial"/>
                <a:cs typeface="Arial"/>
              </a:rPr>
              <a:t>=</a:t>
            </a:r>
            <a:endParaRPr sz="10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</a:pPr>
            <a:r>
              <a:rPr sz="1000" spc="-25" dirty="0">
                <a:latin typeface="Arial"/>
                <a:cs typeface="Arial"/>
              </a:rPr>
              <a:t>Vi </a:t>
            </a:r>
            <a:r>
              <a:rPr sz="1000" spc="15" dirty="0">
                <a:latin typeface="Arial"/>
                <a:cs typeface="Arial"/>
              </a:rPr>
              <a:t>gjør </a:t>
            </a:r>
            <a:r>
              <a:rPr sz="1000" spc="40" dirty="0">
                <a:latin typeface="Arial"/>
                <a:cs typeface="Arial"/>
              </a:rPr>
              <a:t>det </a:t>
            </a:r>
            <a:r>
              <a:rPr sz="1000" spc="25" dirty="0">
                <a:latin typeface="Arial"/>
                <a:cs typeface="Arial"/>
              </a:rPr>
              <a:t>superenkelt </a:t>
            </a:r>
            <a:r>
              <a:rPr sz="1000" spc="10" dirty="0">
                <a:latin typeface="Arial"/>
                <a:cs typeface="Arial"/>
              </a:rPr>
              <a:t>(automagisk) </a:t>
            </a:r>
            <a:r>
              <a:rPr sz="1000" dirty="0">
                <a:latin typeface="Arial"/>
                <a:cs typeface="Arial"/>
              </a:rPr>
              <a:t>å </a:t>
            </a:r>
            <a:r>
              <a:rPr sz="1000" spc="15" dirty="0">
                <a:latin typeface="Arial"/>
                <a:cs typeface="Arial"/>
              </a:rPr>
              <a:t>kjøpe og </a:t>
            </a:r>
            <a:r>
              <a:rPr sz="1000" spc="35" dirty="0">
                <a:latin typeface="Arial"/>
                <a:cs typeface="Arial"/>
              </a:rPr>
              <a:t>administrere </a:t>
            </a:r>
            <a:r>
              <a:rPr sz="1000" spc="25" dirty="0">
                <a:latin typeface="Arial"/>
                <a:cs typeface="Arial"/>
              </a:rPr>
              <a:t>pensjon </a:t>
            </a:r>
            <a:r>
              <a:rPr sz="1000" spc="20" dirty="0">
                <a:latin typeface="Arial"/>
                <a:cs typeface="Arial"/>
              </a:rPr>
              <a:t>(fra </a:t>
            </a:r>
            <a:r>
              <a:rPr sz="1000" spc="-65" dirty="0">
                <a:latin typeface="Arial"/>
                <a:cs typeface="Arial"/>
              </a:rPr>
              <a:t>STB) </a:t>
            </a:r>
            <a:r>
              <a:rPr sz="1000" spc="55" dirty="0">
                <a:latin typeface="Arial"/>
                <a:cs typeface="Arial"/>
              </a:rPr>
              <a:t>for </a:t>
            </a:r>
            <a:r>
              <a:rPr sz="1000" spc="40" dirty="0">
                <a:latin typeface="Arial"/>
                <a:cs typeface="Arial"/>
              </a:rPr>
              <a:t>bedrifter </a:t>
            </a:r>
            <a:r>
              <a:rPr sz="1000" spc="30" dirty="0">
                <a:latin typeface="Arial"/>
                <a:cs typeface="Arial"/>
              </a:rPr>
              <a:t>i  </a:t>
            </a:r>
            <a:r>
              <a:rPr sz="1000" spc="15" dirty="0">
                <a:latin typeface="Arial"/>
                <a:cs typeface="Arial"/>
              </a:rPr>
              <a:t>Tripletex,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spc="25" dirty="0">
                <a:latin typeface="Arial"/>
                <a:cs typeface="Arial"/>
              </a:rPr>
              <a:t>samtidig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spc="35" dirty="0">
                <a:latin typeface="Arial"/>
                <a:cs typeface="Arial"/>
              </a:rPr>
              <a:t>som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spc="10" dirty="0">
                <a:latin typeface="Arial"/>
                <a:cs typeface="Arial"/>
              </a:rPr>
              <a:t>vi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25" dirty="0">
                <a:latin typeface="Arial"/>
                <a:cs typeface="Arial"/>
              </a:rPr>
              <a:t>gir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25" dirty="0">
                <a:latin typeface="Arial"/>
                <a:cs typeface="Arial"/>
              </a:rPr>
              <a:t>de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spc="20" dirty="0">
                <a:latin typeface="Arial"/>
                <a:cs typeface="Arial"/>
              </a:rPr>
              <a:t>ansatte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spc="40" dirty="0">
                <a:latin typeface="Arial"/>
                <a:cs typeface="Arial"/>
              </a:rPr>
              <a:t>full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25" dirty="0">
                <a:latin typeface="Arial"/>
                <a:cs typeface="Arial"/>
              </a:rPr>
              <a:t>oversikt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spc="30" dirty="0">
                <a:latin typeface="Arial"/>
                <a:cs typeface="Arial"/>
              </a:rPr>
              <a:t>over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spc="15" dirty="0">
                <a:latin typeface="Arial"/>
                <a:cs typeface="Arial"/>
              </a:rPr>
              <a:t>sin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spc="10" dirty="0">
                <a:latin typeface="Arial"/>
                <a:cs typeface="Arial"/>
              </a:rPr>
              <a:t>egen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25" dirty="0">
                <a:latin typeface="Arial"/>
                <a:cs typeface="Arial"/>
              </a:rPr>
              <a:t>pensjon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30" dirty="0">
                <a:latin typeface="Arial"/>
                <a:cs typeface="Arial"/>
              </a:rPr>
              <a:t>i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15" dirty="0">
                <a:latin typeface="Arial"/>
                <a:cs typeface="Arial"/>
              </a:rPr>
              <a:t>Tripletex-appen.  </a:t>
            </a:r>
            <a:r>
              <a:rPr sz="1000" spc="-30" dirty="0">
                <a:latin typeface="Arial"/>
                <a:cs typeface="Arial"/>
              </a:rPr>
              <a:t>En </a:t>
            </a:r>
            <a:r>
              <a:rPr sz="1000" spc="25" dirty="0">
                <a:latin typeface="Arial"/>
                <a:cs typeface="Arial"/>
              </a:rPr>
              <a:t>vinn/vinn-situasjon </a:t>
            </a:r>
            <a:r>
              <a:rPr sz="1000" spc="55" dirty="0">
                <a:latin typeface="Arial"/>
                <a:cs typeface="Arial"/>
              </a:rPr>
              <a:t>for</a:t>
            </a:r>
            <a:r>
              <a:rPr sz="1000" spc="-204" dirty="0">
                <a:latin typeface="Arial"/>
                <a:cs typeface="Arial"/>
              </a:rPr>
              <a:t> </a:t>
            </a:r>
            <a:r>
              <a:rPr sz="1000" spc="40" dirty="0">
                <a:latin typeface="Arial"/>
                <a:cs typeface="Arial"/>
              </a:rPr>
              <a:t>bedriften </a:t>
            </a:r>
            <a:r>
              <a:rPr sz="1000" spc="15" dirty="0">
                <a:latin typeface="Arial"/>
                <a:cs typeface="Arial"/>
              </a:rPr>
              <a:t>og deres </a:t>
            </a:r>
            <a:r>
              <a:rPr sz="1000" spc="20" dirty="0">
                <a:latin typeface="Arial"/>
                <a:cs typeface="Arial"/>
              </a:rPr>
              <a:t>ansatte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A92797F43A1AA41A73B6984EE5F6563" ma:contentTypeVersion="13" ma:contentTypeDescription="Create a new document." ma:contentTypeScope="" ma:versionID="b91504213670c49cd74b42f5f4707c67">
  <xsd:schema xmlns:xsd="http://www.w3.org/2001/XMLSchema" xmlns:xs="http://www.w3.org/2001/XMLSchema" xmlns:p="http://schemas.microsoft.com/office/2006/metadata/properties" xmlns:ns2="1583ab8d-8bf9-4e4b-9234-373895614aa2" xmlns:ns3="eebcfce1-5823-48d2-ad4a-6ffd98389b0d" targetNamespace="http://schemas.microsoft.com/office/2006/metadata/properties" ma:root="true" ma:fieldsID="07ecd03aefc2d711b1fc489d2e5527e1" ns2:_="" ns3:_="">
    <xsd:import namespace="1583ab8d-8bf9-4e4b-9234-373895614aa2"/>
    <xsd:import namespace="eebcfce1-5823-48d2-ad4a-6ffd98389b0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83ab8d-8bf9-4e4b-9234-373895614aa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f90f9247-10a2-44e6-a579-5446f749d12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ebcfce1-5823-48d2-ad4a-6ffd98389b0d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2e2ef1c7-27ce-40b9-956e-8907e4257748}" ma:internalName="TaxCatchAll" ma:showField="CatchAllData" ma:web="eebcfce1-5823-48d2-ad4a-6ffd98389b0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ebcfce1-5823-48d2-ad4a-6ffd98389b0d" xsi:nil="true"/>
    <lcf76f155ced4ddcb4097134ff3c332f xmlns="1583ab8d-8bf9-4e4b-9234-373895614aa2">
      <Terms xmlns="http://schemas.microsoft.com/office/infopath/2007/PartnerControls"/>
    </lcf76f155ced4ddcb4097134ff3c332f>
    <SharedWithUsers xmlns="eebcfce1-5823-48d2-ad4a-6ffd98389b0d">
      <UserInfo>
        <DisplayName/>
        <AccountId xsi:nil="true"/>
        <AccountType/>
      </UserInfo>
    </SharedWithUsers>
  </documentManagement>
</p:properties>
</file>

<file path=customXml/itemProps1.xml><?xml version="1.0" encoding="utf-8"?>
<ds:datastoreItem xmlns:ds="http://schemas.openxmlformats.org/officeDocument/2006/customXml" ds:itemID="{F1B51B21-A444-4AC8-9F0D-2F169F551693}"/>
</file>

<file path=customXml/itemProps2.xml><?xml version="1.0" encoding="utf-8"?>
<ds:datastoreItem xmlns:ds="http://schemas.openxmlformats.org/officeDocument/2006/customXml" ds:itemID="{E53B2409-0237-4CEF-8CA7-CA5C7BD946B5}"/>
</file>

<file path=customXml/itemProps3.xml><?xml version="1.0" encoding="utf-8"?>
<ds:datastoreItem xmlns:ds="http://schemas.openxmlformats.org/officeDocument/2006/customXml" ds:itemID="{F3207CBB-888E-4F17-8B2D-C385249AC800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263</Words>
  <Application>Microsoft Office PowerPoint</Application>
  <PresentationFormat>Skjermfremvisning (16:9)</PresentationFormat>
  <Paragraphs>26</Paragraphs>
  <Slides>8</Slides>
  <Notes>0</Notes>
  <HiddenSlides>0</HiddenSlides>
  <MMClips>0</MMClips>
  <ScaleCrop>false</ScaleCrop>
  <HeadingPairs>
    <vt:vector size="6" baseType="variant">
      <vt:variant>
        <vt:lpstr>Brukte skrifter</vt:lpstr>
      </vt:variant>
      <vt:variant>
        <vt:i4>4</vt:i4>
      </vt:variant>
      <vt:variant>
        <vt:lpstr>Tema</vt:lpstr>
      </vt:variant>
      <vt:variant>
        <vt:i4>1</vt:i4>
      </vt:variant>
      <vt:variant>
        <vt:lpstr>Lysbildetitler</vt:lpstr>
      </vt:variant>
      <vt:variant>
        <vt:i4>8</vt:i4>
      </vt:variant>
    </vt:vector>
  </HeadingPairs>
  <TitlesOfParts>
    <vt:vector size="13" baseType="lpstr">
      <vt:lpstr>Arial</vt:lpstr>
      <vt:lpstr>Calibri</vt:lpstr>
      <vt:lpstr>Times New Roman</vt:lpstr>
      <vt:lpstr>Trebuchet MS</vt:lpstr>
      <vt:lpstr>Office Theme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PowerPoint-presentasjon</dc:title>
  <dc:creator>Øyen, Martin</dc:creator>
  <cp:lastModifiedBy>Øyen, Martin</cp:lastModifiedBy>
  <cp:revision>1</cp:revision>
  <dcterms:created xsi:type="dcterms:W3CDTF">2021-02-03T12:00:49Z</dcterms:created>
  <dcterms:modified xsi:type="dcterms:W3CDTF">2021-02-03T12:01:17Z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  <property fmtid="{D5CDD505-2E9C-101B-9397-08002B2CF9AE}" pid="3" name="MSIP_Label_8c3d8a03-6c4f-48cf-a1a6-1b38e749645c_Enabled">
    <vt:lpwstr>true</vt:lpwstr>
  </property>
  <property fmtid="{D5CDD505-2E9C-101B-9397-08002B2CF9AE}" pid="4" name="MSIP_Label_8c3d8a03-6c4f-48cf-a1a6-1b38e749645c_SetDate">
    <vt:lpwstr>2021-02-03T12:01:07Z</vt:lpwstr>
  </property>
  <property fmtid="{D5CDD505-2E9C-101B-9397-08002B2CF9AE}" pid="5" name="MSIP_Label_8c3d8a03-6c4f-48cf-a1a6-1b38e749645c_Method">
    <vt:lpwstr>Standard</vt:lpwstr>
  </property>
  <property fmtid="{D5CDD505-2E9C-101B-9397-08002B2CF9AE}" pid="6" name="MSIP_Label_8c3d8a03-6c4f-48cf-a1a6-1b38e749645c_Name">
    <vt:lpwstr>Internal</vt:lpwstr>
  </property>
  <property fmtid="{D5CDD505-2E9C-101B-9397-08002B2CF9AE}" pid="7" name="MSIP_Label_8c3d8a03-6c4f-48cf-a1a6-1b38e749645c_SiteId">
    <vt:lpwstr>44b5383f-aeed-4959-a674-24d907b93966</vt:lpwstr>
  </property>
  <property fmtid="{D5CDD505-2E9C-101B-9397-08002B2CF9AE}" pid="8" name="MSIP_Label_8c3d8a03-6c4f-48cf-a1a6-1b38e749645c_ActionId">
    <vt:lpwstr>752d63bf-2b87-4af3-af82-a9693d97c107</vt:lpwstr>
  </property>
  <property fmtid="{D5CDD505-2E9C-101B-9397-08002B2CF9AE}" pid="9" name="MSIP_Label_8c3d8a03-6c4f-48cf-a1a6-1b38e749645c_ContentBits">
    <vt:lpwstr>0</vt:lpwstr>
  </property>
  <property fmtid="{D5CDD505-2E9C-101B-9397-08002B2CF9AE}" pid="10" name="ContentTypeId">
    <vt:lpwstr>0x0101004A92797F43A1AA41A73B6984EE5F6563</vt:lpwstr>
  </property>
  <property fmtid="{D5CDD505-2E9C-101B-9397-08002B2CF9AE}" pid="11" name="Order">
    <vt:r8>11700</vt:r8>
  </property>
  <property fmtid="{D5CDD505-2E9C-101B-9397-08002B2CF9AE}" pid="12" name="xd_Signature">
    <vt:bool>false</vt:bool>
  </property>
  <property fmtid="{D5CDD505-2E9C-101B-9397-08002B2CF9AE}" pid="13" name="xd_ProgID">
    <vt:lpwstr/>
  </property>
  <property fmtid="{D5CDD505-2E9C-101B-9397-08002B2CF9AE}" pid="14" name="_SourceUrl">
    <vt:lpwstr/>
  </property>
  <property fmtid="{D5CDD505-2E9C-101B-9397-08002B2CF9AE}" pid="15" name="_SharedFileIndex">
    <vt:lpwstr/>
  </property>
  <property fmtid="{D5CDD505-2E9C-101B-9397-08002B2CF9AE}" pid="16" name="ComplianceAssetId">
    <vt:lpwstr/>
  </property>
  <property fmtid="{D5CDD505-2E9C-101B-9397-08002B2CF9AE}" pid="17" name="TemplateUrl">
    <vt:lpwstr/>
  </property>
  <property fmtid="{D5CDD505-2E9C-101B-9397-08002B2CF9AE}" pid="18" name="_ExtendedDescription">
    <vt:lpwstr/>
  </property>
  <property fmtid="{D5CDD505-2E9C-101B-9397-08002B2CF9AE}" pid="19" name="TriggerFlowInfo">
    <vt:lpwstr/>
  </property>
</Properties>
</file>